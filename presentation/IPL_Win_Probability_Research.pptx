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rgbClr val="FFB900"/>
            </a:solidFill>
            <a:ln w="25400" cap="flat">
              <a:solidFill>
                <a:srgbClr val="FFB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900"/>
              </a:solidFill>
              <a:ln w="9525" cap="flat">
                <a:solidFill>
                  <a:srgbClr val="FFB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0.92</c:v>
                </c:pt>
                <c:pt idx="1">
                  <c:v>0.9</c:v>
                </c:pt>
                <c:pt idx="2">
                  <c:v>0.86</c:v>
                </c:pt>
                <c:pt idx="3">
                  <c:v>0.79</c:v>
                </c:pt>
                <c:pt idx="4">
                  <c:v>0.68</c:v>
                </c:pt>
                <c:pt idx="5">
                  <c:v>0.55</c:v>
                </c:pt>
                <c:pt idx="6">
                  <c:v>0.39</c:v>
                </c:pt>
                <c:pt idx="7">
                  <c:v>0.27</c:v>
                </c:pt>
                <c:pt idx="8">
                  <c:v>0.17</c:v>
                </c:pt>
                <c:pt idx="9">
                  <c:v>0.1</c:v>
                </c:pt>
                <c:pt idx="10">
                  <c:v>0.05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 A</c:v>
                </c:pt>
              </c:strCache>
            </c:strRef>
          </c:tx>
          <c:spPr>
            <a:solidFill>
              <a:srgbClr val="FFB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Powerplay</c:v>
                  </c:pt>
                  <c:pt idx="1">
                    <c:v>Middle</c:v>
                  </c:pt>
                  <c:pt idx="2">
                    <c:v>Death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</c:v>
                </c:pt>
                <c:pt idx="1">
                  <c:v>8.2</c:v>
                </c:pt>
                <c:pt idx="2">
                  <c:v>10.9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League Avg</c:v>
                </c:pt>
              </c:strCache>
            </c:strRef>
          </c:tx>
          <c:spPr>
            <a:solidFill>
              <a:srgbClr val="00C8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Powerplay</c:v>
                  </c:pt>
                  <c:pt idx="1">
                    <c:v>Middle</c:v>
                  </c:pt>
                  <c:pt idx="2">
                    <c:v>Death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7.5</c:v>
                </c:pt>
                <c:pt idx="1">
                  <c:v>8</c:v>
                </c:pt>
                <c:pt idx="2">
                  <c:v>10.5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CRR</c:v>
                </c:pt>
              </c:strCache>
            </c:strRef>
          </c:tx>
          <c:spPr>
            <a:solidFill>
              <a:srgbClr val="FFB900"/>
            </a:solidFill>
            <a:ln w="25400" cap="flat">
              <a:solidFill>
                <a:srgbClr val="FFB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900"/>
              </a:solidFill>
              <a:ln w="9525" cap="flat">
                <a:solidFill>
                  <a:srgbClr val="FFB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7.2</c:v>
                </c:pt>
                <c:pt idx="2">
                  <c:v>7.8</c:v>
                </c:pt>
                <c:pt idx="3">
                  <c:v>8.3</c:v>
                </c:pt>
                <c:pt idx="4">
                  <c:v>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RRR</c:v>
                </c:pt>
              </c:strCache>
            </c:strRef>
          </c:tx>
          <c:spPr>
            <a:solidFill>
              <a:srgbClr val="00C853"/>
            </a:solidFill>
            <a:ln w="25400" cap="flat">
              <a:solidFill>
                <a:srgbClr val="00C8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853"/>
              </a:solidFill>
              <a:ln w="9525" cap="flat">
                <a:solidFill>
                  <a:srgbClr val="00C8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10.4</c:v>
                </c:pt>
                <c:pt idx="1">
                  <c:v>9.8</c:v>
                </c:pt>
                <c:pt idx="2">
                  <c:v>9.1</c:v>
                </c:pt>
                <c:pt idx="3">
                  <c:v>8.8</c:v>
                </c:pt>
                <c:pt idx="4">
                  <c:v>8.6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2+ wickets per 6 balls</c:v>
                </c:pt>
              </c:strCache>
            </c:strRef>
          </c:tx>
          <c:spPr>
            <a:solidFill>
              <a:srgbClr val="FFB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8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500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Powerplay</c:v>
                  </c:pt>
                  <c:pt idx="1">
                    <c:v>Middle</c:v>
                  </c:pt>
                  <c:pt idx="2">
                    <c:v>Death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</c:v>
                </c:pt>
                <c:pt idx="1">
                  <c:v>0.11</c:v>
                </c:pt>
                <c:pt idx="2">
                  <c:v>0.18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97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97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B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9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Stacking (nb)</c:v>
                  </c:pt>
                  <c:pt idx="1">
                    <c:v>Hybrid (nb)</c:v>
                  </c:pt>
                  <c:pt idx="2">
                    <c:v>Hybrid (website)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0.774498</c:v>
                </c:pt>
                <c:pt idx="1">
                  <c:v>0.771729</c:v>
                </c:pt>
                <c:pt idx="2">
                  <c:v>0.701625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2"/>
          <c:min val="0.68"/>
        </c:scaling>
        <c:delete val="0"/>
        <c:axPos val="b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C8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required_run_rate</c:v>
                  </c:pt>
                  <c:pt idx="1">
                    <c:v>overs_remaining</c:v>
                  </c:pt>
                  <c:pt idx="2">
                    <c:v>pressure_index</c:v>
                  </c:pt>
                  <c:pt idx="3">
                    <c:v>wickets_remaining</c:v>
                  </c:pt>
                  <c:pt idx="4">
                    <c:v>momentum_short</c:v>
                  </c:pt>
                  <c:pt idx="5">
                    <c:v>rr_pressure</c:v>
                  </c:pt>
                  <c:pt idx="6">
                    <c:v>collapse_indicator</c:v>
                  </c:pt>
                  <c:pt idx="7">
                    <c:v>boundary_intensity</c:v>
                  </c:pt>
                  <c:pt idx="8">
                    <c:v>resource_remaining</c:v>
                  </c:pt>
                  <c:pt idx="9">
                    <c:v>match_progress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0.142</c:v>
                </c:pt>
                <c:pt idx="1">
                  <c:v>0.128</c:v>
                </c:pt>
                <c:pt idx="2">
                  <c:v/>
                </c:pt>
                <c:pt idx="3">
                  <c:v>0.098</c:v>
                </c:pt>
                <c:pt idx="4">
                  <c:v>0.087</c:v>
                </c:pt>
                <c:pt idx="5">
                  <c:v>0.074</c:v>
                </c:pt>
                <c:pt idx="6">
                  <c:v/>
                </c:pt>
                <c:pt idx="7">
                  <c:v>0.053</c:v>
                </c:pt>
                <c:pt idx="8">
                  <c:v>0.048</c:v>
                </c:pt>
                <c:pt idx="9">
                  <c:v>0.041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Pressure/Collapse</c:v>
                </c:pt>
              </c:strCache>
            </c:strRef>
          </c:tx>
          <c:spPr>
            <a:solidFill>
              <a:srgbClr val="D5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required_run_rate</c:v>
                  </c:pt>
                  <c:pt idx="1">
                    <c:v>overs_remaining</c:v>
                  </c:pt>
                  <c:pt idx="2">
                    <c:v>pressure_index</c:v>
                  </c:pt>
                  <c:pt idx="3">
                    <c:v>wickets_remaining</c:v>
                  </c:pt>
                  <c:pt idx="4">
                    <c:v>momentum_short</c:v>
                  </c:pt>
                  <c:pt idx="5">
                    <c:v>rr_pressure</c:v>
                  </c:pt>
                  <c:pt idx="6">
                    <c:v>collapse_indicator</c:v>
                  </c:pt>
                  <c:pt idx="7">
                    <c:v>boundary_intensity</c:v>
                  </c:pt>
                  <c:pt idx="8">
                    <c:v>resource_remaining</c:v>
                  </c:pt>
                  <c:pt idx="9">
                    <c:v>match_progress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/>
                </c:pt>
                <c:pt idx="1">
                  <c:v/>
                </c:pt>
                <c:pt idx="2">
                  <c:v>0.115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0.061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"/>
          <c:min val="0"/>
        </c:scaling>
        <c:delete val="0"/>
        <c:axPos val="b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Probability</c:v>
                </c:pt>
              </c:strCache>
            </c:strRef>
          </c:tx>
          <c:spPr>
            <a:solidFill>
              <a:srgbClr val="FFB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8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04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0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Aggressive</c:v>
                  </c:pt>
                  <c:pt idx="1">
                    <c:v>Optimal</c:v>
                  </c:pt>
                  <c:pt idx="2">
                    <c:v>Defensive</c:v>
                  </c:pt>
                  <c:pt idx="3">
                    <c:v>Wicket Loss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</c:v>
                </c:pt>
                <c:pt idx="1">
                  <c:v>0.51</c:v>
                </c:pt>
                <c:pt idx="2">
                  <c:v>0.31</c:v>
                </c:pt>
                <c:pt idx="3">
                  <c:v>0.22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C8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required_run_rate</c:v>
                  </c:pt>
                  <c:pt idx="1">
                    <c:v>overs_remaining</c:v>
                  </c:pt>
                  <c:pt idx="2">
                    <c:v>pressure_index</c:v>
                  </c:pt>
                  <c:pt idx="3">
                    <c:v>wickets_remaining</c:v>
                  </c:pt>
                  <c:pt idx="4">
                    <c:v>momentum_short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0.142</c:v>
                </c:pt>
                <c:pt idx="1">
                  <c:v>0.128</c:v>
                </c:pt>
                <c:pt idx="2">
                  <c:v>0.115</c:v>
                </c:pt>
                <c:pt idx="3">
                  <c:v>0.098</c:v>
                </c:pt>
                <c:pt idx="4">
                  <c:v>0.087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"/>
          <c:min val="0"/>
        </c:scaling>
        <c:delete val="0"/>
        <c:axPos val="b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presents a production-grade IPL analytics system focused on explainable win probability and strategy simulation. The architecture combines ensemble ML, counterfactual what-if analysis, and deployable MLOps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tactical decision-making in IPL is high-frequency and pressure-heavy but not supported by explainable ball-level probability systems. This creates a strategic intelligence gap for teams and broadcasters.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novelty lies in integrating calibrated stacked learning, actionable counterfactual simulation, and local feature attribution in one IPL-specific framework. The objective is tactical interpretability, not only predictive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training corpus covers IPL seasons from 2007/08 to 2024 with 1,095 matches and 260,920 deliveries. Quality filtering ensures model outputs are calibrated to mainstream match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preprocessing pipeline enforces data integrity and cricket-specific logic before model training. This step is essential to avoid leakage and unstable behavior in high-pressure match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combines state, momentum, and pressure dimensions into a 25-feature inference contract. Code-style feature naming improves traceability for model debugging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confirms nonlinear pressure dynamics: win probability declines sharply beyond high required run rates. Death-overs momentum and collapse patterns motivated explicit pressure and short-window momentum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 model combines ML stacking and a deep tabular MLP branch, then applies a validation-tuned weighted blend (0.60 ML + 0.40 DL). This preserves tabular robustness while adding nonlinear representation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combines notebook final-evaluation outputs (Existing Stacking ML vs Hybrid vs DL variants) and website deployment metadata from model_metadata.json/main.py. Website currently serves hybrid mode with model_version v1.1.0-hybrid-ml-dl.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converts probability scores into tactical narratives by quantifying feature-level influence. This makes the model interpretable for captains, analysts, and governance stakeholders.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counterfactual engine quantifies tactical alternatives from the same match state. This moves analysis from descriptive commentary to measurable strategic decision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uses threshold-driven monitoring with explicit operational actions. The policy keeps model risk auditable and supports retraining decisions with quantitative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is organized around a typed inference contract and versioned artifacts. Monitoring and audit logs close the production loop for compliance and retraining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operationalizes inference for in-match tactical use. The interface emphasizes confidence-aware probability and high-pressure state detection for fast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model powers two value streams: live engagement graphics for media, and strategic benchmarking for franchises. Explainability improves stakeholder trust in both contexts.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16 consolidates platform-scale applications beyond a single match model. The design shows a progression from reproducible ML to governed operations and monetizable analytics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outcomes are source-tagged: notebook comparison outputs are shown alongside website deployed metadata. This avoids mixing experimental notebook metrics with production-facing API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demonstrates a full path from research to production: reliable prediction, tactical simulation, explainability, and monitoring. Future work expands personalization, contextual features, and real-time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10332720" cy="4663440"/>
          </a:xfrm>
          <a:prstGeom prst="ellipse">
            <a:avLst/>
          </a:prstGeom>
          <a:solidFill>
            <a:srgbClr val="0D1117">
              <a:alpha val="0"/>
            </a:srgbClr>
          </a:solidFill>
          <a:ln w="12700">
            <a:solidFill>
              <a:srgbClr val="FFB900">
                <a:alpha val="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RESEARCH PROJECT · IPL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Counterfactual Strategy Analysis in IPL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28346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Win Probability Modeling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4873752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8862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ML Researchers · Franchise Analysts · Enterprise Technology Leaders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8A6B00"/>
          </a:solidFill>
          <a:ln w="12700">
            <a:solidFill>
              <a:srgbClr val="8A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519672"/>
            <a:ext cx="1179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(ML+DL) · SHAP Explainability · MLOps Monitoring · Counterfactual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IPL Decisions Need Better Intelligence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51560"/>
            <a:ext cx="653796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make 200+ ball-level decisions per match with no quantified win probability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(Duckworth-Lewis) are rule-based — they cannot simulate "what if" strategy changes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Broadcasters and franchise analysts lack real-time, explainable probability signals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23760" y="1234440"/>
            <a:ext cx="466344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1344168"/>
            <a:ext cx="4389120" cy="746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33488" y="2167128"/>
            <a:ext cx="4443984" cy="49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decisions per match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2926080"/>
            <a:ext cx="466344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3035808"/>
            <a:ext cx="4389120" cy="746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IPL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33488" y="3858768"/>
            <a:ext cx="4443984" cy="49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franchises lacking explainable ML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4617720"/>
            <a:ext cx="466344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4727448"/>
            <a:ext cx="4389120" cy="746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5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333488" y="5550408"/>
            <a:ext cx="4443984" cy="49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ball-level counterfactual tools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 &amp; NOVELTY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System Achieves — And Why It's New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3611880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Ball-Level Win Probability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1546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batting team's win probability at every delivery — not just at over boundaries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234440"/>
            <a:ext cx="3611880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508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Simulation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246120"/>
            <a:ext cx="31546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'what if' scenarios: Aggressive Over, Defensive Over, Wicket Loss, Optimal Over — with quantified impact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611880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08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Ensemble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246120"/>
            <a:ext cx="31546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reveal which features drive each prediction — pressure index, momentum, RRR, collapse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5852160"/>
            <a:ext cx="11384280" cy="685800"/>
          </a:xfrm>
          <a:prstGeom prst="roundRect">
            <a:avLst/>
          </a:prstGeom>
          <a:solidFill>
            <a:srgbClr val="2A230B"/>
          </a:solidFill>
          <a:ln w="12700">
            <a:solidFill>
              <a:srgbClr val="8A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First system to combine stacked ensemble calibration + counterfactual simulation + SHAP explainability for IPL ball-by-ball win probability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Dataset — 2007/08 to 2024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7040880" cy="4023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08760"/>
          <a:ext cx="6537960" cy="1965960"/>
        </p:xfrm>
        <a:graphic>
          <a:graphicData uri="http://schemas.openxmlformats.org/drawingml/2006/table">
            <a:tbl>
              <a:tblPr/>
              <a:tblGrid>
                <a:gridCol w="1463040"/>
                <a:gridCol w="132588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1,095 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season, team1, team2, winner,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260,920 balls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match_id, over, ball, runs, wicket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8368" y="384048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removed: No Result matches, Super Over matches, DLS-affected matches, non-standard innings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150876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1783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260,920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744968" y="2468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784080" y="150876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0" y="1783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9893808" y="2468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seasons (2007/08–2024)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35240" y="379476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6680" y="4069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1,095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7744968" y="4754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784080" y="379476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0" y="4069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9893808" y="4754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franchises covered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7-Step Data Cleaning &amp; Structural Pipeline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011680"/>
            <a:ext cx="1508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21762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5420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 &amp; Type Check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schema and dtypes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38528" y="2743200"/>
            <a:ext cx="411480" cy="64008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2011680"/>
            <a:ext cx="1508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21762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48840" y="25420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Validation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48840" y="3310128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match/ball uniqueness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2743200"/>
            <a:ext cx="411480" cy="64008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2011680"/>
            <a:ext cx="1508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21762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94760" y="25420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94760" y="3310128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Impute/drop systematic gaps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30368" y="2743200"/>
            <a:ext cx="411480" cy="64008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2011680"/>
            <a:ext cx="1508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2392" y="21762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5420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40680" y="3310128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repeated events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2743200"/>
            <a:ext cx="411480" cy="64008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2011680"/>
            <a:ext cx="1508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21762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86600" y="25420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Cricket Validation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86600" y="3310128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overs/runs/wickets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22208" y="2743200"/>
            <a:ext cx="411480" cy="64008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2011680"/>
            <a:ext cx="1508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4232" y="21762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732520" y="25420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 Identification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32520" y="3310128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DLS, super overs, anomalies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168128" y="2743200"/>
            <a:ext cx="411480" cy="64008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87000" y="2011680"/>
            <a:ext cx="1508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60152" y="21762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378440" y="25420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Sanity Check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378440" y="3310128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feature outlier drift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5074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Super Over, DLS, No Result matches · Kept only standard innings 1 &amp; 2 · Dropped non-predictive identifier columns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ML-Ready Features Across 5 Categories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97280"/>
            <a:ext cx="685800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649224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270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🏏 Match 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52704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overs_remaining, wickets_remaining, cumulative_runs, balls_remaining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313432"/>
            <a:ext cx="6492240" cy="822960"/>
          </a:xfrm>
          <a:prstGeom prst="roundRect">
            <a:avLst/>
          </a:prstGeom>
          <a:solidFill>
            <a:srgbClr val="1C2128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Run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5146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current_run_rate, required_run_rate, rr_pressure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00984"/>
            <a:ext cx="649224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021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Momentum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50215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momentum_short, momentum_medium, momentum_swing, momentum_acceleration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288536"/>
            <a:ext cx="6492240" cy="822960"/>
          </a:xfrm>
          <a:prstGeom prst="roundRect">
            <a:avLst/>
          </a:prstGeom>
          <a:solidFill>
            <a:srgbClr val="1C2128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897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Pressure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48970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pressure_index, wicket_pressure, win_pressure, collapse_indicator, collapse_risk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276088"/>
            <a:ext cx="649224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4772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Progress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547725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match_progress, resource_remaining, match_phase, boundary_intensity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0" y="1325880"/>
            <a:ext cx="438912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Pressure Index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18745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run rate pressure + wicket pressure + win pressure · Signals critical match moments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3063240"/>
            <a:ext cx="438912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momentum_short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26680" y="36118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scored in last 6 balls · Captures batting team's immediate scoring rhythm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4800600"/>
            <a:ext cx="438912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5029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collapse_indicator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26680" y="53492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flag: 2+ wickets in last 6 balls · Triggers risk signal for prediction model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Patterns From 250,000 IPL Deliveries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66928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 vs Required Run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6208" y="1097280"/>
            <a:ext cx="54864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17043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Phase-wise Scoring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840480"/>
            <a:ext cx="566928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91363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 Progression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3840480"/>
            <a:ext cx="54864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391363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 Collapse Distribution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13232" y="1417320"/>
          <a:ext cx="5074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Chart 1" descr=""/>
          <p:cNvGraphicFramePr/>
          <p:nvPr/>
        </p:nvGraphicFramePr>
        <p:xfrm>
          <a:off x="6537960" y="1417320"/>
          <a:ext cx="48920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Chart 2" descr=""/>
          <p:cNvGraphicFramePr/>
          <p:nvPr/>
        </p:nvGraphicFramePr>
        <p:xfrm>
          <a:off x="713232" y="4160520"/>
          <a:ext cx="5074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6" name="Chart 3" descr=""/>
          <p:cNvGraphicFramePr/>
          <p:nvPr/>
        </p:nvGraphicFramePr>
        <p:xfrm>
          <a:off x="6537960" y="4160520"/>
          <a:ext cx="48920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(ML+DL) — Stacking + Deep Tabular MLP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256032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560320" cy="36576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103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Train/Test Split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234440"/>
            <a:ext cx="265176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417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n_est=500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331720"/>
            <a:ext cx="265176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514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n_est=400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429000"/>
            <a:ext cx="265176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n_est=550, lr=0.035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9692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ML BRANCH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240280"/>
            <a:ext cx="228600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359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FUSION 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26517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stack + DL MLP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blend: 0.60*ML + 0.40*DL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240280"/>
            <a:ext cx="256032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35915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72600" y="267004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Hybrid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[0,1]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71800" y="1965960"/>
            <a:ext cx="50292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971800" y="2788920"/>
            <a:ext cx="50292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3611880"/>
            <a:ext cx="50292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26480" y="1965960"/>
            <a:ext cx="457200" cy="100584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26480" y="2788920"/>
            <a:ext cx="45720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26480" y="3611880"/>
            <a:ext cx="457200" cy="-100584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69680" y="2971800"/>
            <a:ext cx="36576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5166360"/>
            <a:ext cx="3566160" cy="960120"/>
          </a:xfrm>
          <a:prstGeom prst="roundRect">
            <a:avLst/>
          </a:prstGeom>
          <a:solidFill>
            <a:srgbClr val="1C2128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split prevents data leakage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34840" y="5166360"/>
            <a:ext cx="3566160" cy="960120"/>
          </a:xfrm>
          <a:prstGeom prst="roundRect">
            <a:avLst/>
          </a:prstGeom>
          <a:solidFill>
            <a:srgbClr val="1C2128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branch: Dense + BatchNorm + ReLU + Dropout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21040" y="5166360"/>
            <a:ext cx="3566160" cy="960120"/>
          </a:xfrm>
          <a:prstGeom prst="roundRect">
            <a:avLst/>
          </a:prstGeom>
          <a:solidFill>
            <a:srgbClr val="1C2128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applied to hybrid output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 vs Website Metrics (Hybrid ML+DL)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80644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5440680" cy="3566160"/>
        </p:xfrm>
        <a:graphic>
          <a:graphicData uri="http://schemas.openxmlformats.org/drawingml/2006/table">
            <a:tbl>
              <a:tblPr/>
              <a:tblGrid>
                <a:gridCol w="1783080"/>
                <a:gridCol w="1600200"/>
                <a:gridCol w="96012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Stacking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(ML + DL)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0.771729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 Phase-wise Specialist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0.745692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(Keras MLP)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0.737946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(website deployed)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model_metadata.json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2916936"/>
            <a:ext cx="36576" cy="292608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46520" y="1097280"/>
            <a:ext cx="5257800" cy="4663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6720840" y="150876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6492240" y="5897880"/>
            <a:ext cx="1645920" cy="502920"/>
          </a:xfrm>
          <a:prstGeom prst="roundRect">
            <a:avLst/>
          </a:prstGeom>
          <a:solidFill>
            <a:srgbClr val="0C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0" y="60533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AUC: 0.860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229600" y="5897880"/>
            <a:ext cx="1645920" cy="50292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21040" y="60533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AUC: 0.791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966960" y="5897880"/>
            <a:ext cx="1737360" cy="502920"/>
          </a:xfrm>
          <a:prstGeom prst="roundRect">
            <a:avLst/>
          </a:prstGeom>
          <a:solidFill>
            <a:srgbClr val="2A230B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60533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0.34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20840" y="52120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API snapshot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20840" y="5449824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model_version: v1.1.0-hybrid-ml-dl</a:t>
            </a:r>
            <a:endParaRPr lang="en-US" sz="870" dirty="0"/>
          </a:p>
        </p:txBody>
      </p:sp>
      <p:sp>
        <p:nvSpPr>
          <p:cNvPr id="18" name="Text 14"/>
          <p:cNvSpPr/>
          <p:nvPr/>
        </p:nvSpPr>
        <p:spPr>
          <a:xfrm>
            <a:off x="6720840" y="560527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prediction_mode: hybrid_ml_dl</a:t>
            </a:r>
            <a:endParaRPr lang="en-US" sz="870" dirty="0"/>
          </a:p>
        </p:txBody>
      </p:sp>
      <p:sp>
        <p:nvSpPr>
          <p:cNvPr id="19" name="Text 15"/>
          <p:cNvSpPr/>
          <p:nvPr/>
        </p:nvSpPr>
        <p:spPr>
          <a:xfrm>
            <a:off x="6720840" y="57607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deep_learning_enabled: true, fallback_mode: false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— What Drives Each Prediction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39496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assigns each feature a contribution value for every single prediction. Positive SHAP increases win probability, while negative SHAP reduces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overs_remaining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required_run_rate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dominate in 2nd innings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pressure_index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highest negative impact during collapse scenarios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momentum_short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captures last-6-ball scoring rhythm — high importance in Death overs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566928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6309360" y="1508760"/>
          <a:ext cx="5212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COUNTERFACTUAL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If?" — Simulating Strategic Choices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89788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real ball state, the system simulates alternative over outcomes and computes the resulting win probability shift.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5349240" cy="86868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Innings: 2nd | Over: 14.0 | Score: 112/4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165 | Balls Remaining: 36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CRR: 8.0 | RRR: 12.25 | Base Win Prob: 0.38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154680"/>
          <a:ext cx="539496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914400"/>
                <a:gridCol w="91440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Wickets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Prob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Defensive 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−0.07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Wicket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0" y="1097280"/>
            <a:ext cx="512064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6858000" y="1508760"/>
          <a:ext cx="4617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6903720" y="4261104"/>
            <a:ext cx="452628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515600" y="40965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0.38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&amp;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Monitoring — Detect Drift Before It Hurts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676656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217920" cy="1325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73352"/>
            <a:ext cx="320040" cy="3200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5819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— Population Stability Index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2075688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distribution shift per feature. Threshold: PSI &gt; 0.2 → flag for investigation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108960"/>
            <a:ext cx="6217920" cy="1325880"/>
          </a:xfrm>
          <a:prstGeom prst="roundRect">
            <a:avLst/>
          </a:prstGeom>
          <a:solidFill>
            <a:srgbClr val="1C2128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364992"/>
            <a:ext cx="320040" cy="320040"/>
          </a:xfrm>
          <a:prstGeom prst="ellipse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32735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1872" y="34930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Z-Shift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3767328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of mean change per feature. Threshold: |Z| &gt; 2.0 → drift alert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800600"/>
            <a:ext cx="6217920" cy="1325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056632"/>
            <a:ext cx="320040" cy="320040"/>
          </a:xfrm>
          <a:prstGeom prst="ellipse">
            <a:avLst/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9651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5184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Performance Monitor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61872" y="5458968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AUC across batch runs. Threshold: AUC &lt; 0.72 → retrain_required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417320"/>
            <a:ext cx="4297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73252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max: 0.298440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332720" y="1783080"/>
            <a:ext cx="1188720" cy="438912"/>
          </a:xfrm>
          <a:prstGeom prst="roundRect">
            <a:avLst/>
          </a:prstGeom>
          <a:solidFill>
            <a:srgbClr val="2A0B0B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9019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406640" y="3154680"/>
            <a:ext cx="4297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3429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732520" y="3429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0.865097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332720" y="3520440"/>
            <a:ext cx="1188720" cy="438912"/>
          </a:xfrm>
          <a:prstGeom prst="roundRect">
            <a:avLst/>
          </a:prstGeom>
          <a:solidFill>
            <a:srgbClr val="0C2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78440" y="36393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406640" y="4892040"/>
            <a:ext cx="4297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5166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732520" y="5166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retrain_required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332720" y="5257800"/>
            <a:ext cx="1188720" cy="438912"/>
          </a:xfrm>
          <a:prstGeom prst="roundRect">
            <a:avLst/>
          </a:prstGeom>
          <a:solidFill>
            <a:srgbClr val="2A0B0B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78440" y="5376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02920" y="5989320"/>
            <a:ext cx="11155680" cy="475488"/>
          </a:xfrm>
          <a:prstGeom prst="roundRect">
            <a:avLst/>
          </a:prstGeom>
          <a:solidFill>
            <a:srgbClr val="2A230B"/>
          </a:solidFill>
          <a:ln w="12700">
            <a:solidFill>
              <a:srgbClr val="8A6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6135624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actions: monitor_only | retrain_required — logged with timestamp to audit trail JSON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 Inference Pipeline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1305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Input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57400" y="2395728"/>
            <a:ext cx="59436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192024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21305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2395728"/>
            <a:ext cx="59436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0" y="192024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21305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2395728"/>
            <a:ext cx="59436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60720" y="192024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1305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(ML+DL)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2395728"/>
            <a:ext cx="59436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192024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21305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72600" y="338328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5752" y="35935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Contract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06640" y="338328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792" y="35935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.joblib Bundle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 JSON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338328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35935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JSON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3383280"/>
            <a:ext cx="150876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5935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98280" y="2880360"/>
            <a:ext cx="0" cy="50292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06640" y="3858768"/>
            <a:ext cx="-32004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77840" y="3858768"/>
            <a:ext cx="-32004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4937760"/>
            <a:ext cx="356616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166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stacking_model_bundle.joblib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ML model, scaler, feature_names, version, timestamps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4937760"/>
            <a:ext cx="356616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5166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deep_learning_model_bundle.joblib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MLP model, scaler, feature_names, DL metadata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0" y="4937760"/>
            <a:ext cx="356616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5166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model_metadata.json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model_version, feature_count, test_accuracy, test_roc_auc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Ball-by-Ball Hybrid (ML+DL) Win Probability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76072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real-time hybrid win probability at every delivery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tactical calls: bowling changes, batting intent, field settings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 (±2%) displayed alongside central estimate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1600200" cy="548640"/>
          </a:xfrm>
          <a:prstGeom prst="roundRect">
            <a:avLst/>
          </a:prstGeom>
          <a:solidFill>
            <a:srgbClr val="2A230B"/>
          </a:solidFill>
          <a:ln w="12700">
            <a:solidFill>
              <a:srgbClr val="8A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47091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4526280"/>
            <a:ext cx="1600200" cy="548640"/>
          </a:xfrm>
          <a:prstGeom prst="roundRect">
            <a:avLst/>
          </a:prstGeom>
          <a:solidFill>
            <a:srgbClr val="2A230B"/>
          </a:solidFill>
          <a:ln w="12700">
            <a:solidFill>
              <a:srgbClr val="8A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47091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Staff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4526280"/>
            <a:ext cx="1600200" cy="548640"/>
          </a:xfrm>
          <a:prstGeom prst="roundRect">
            <a:avLst/>
          </a:prstGeom>
          <a:solidFill>
            <a:srgbClr val="2A230B"/>
          </a:solidFill>
          <a:ln w="12700">
            <a:solidFill>
              <a:srgbClr val="8A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9976" y="47091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1097280"/>
            <a:ext cx="5303520" cy="5440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508760"/>
            <a:ext cx="4480560" cy="4663440"/>
          </a:xfrm>
          <a:prstGeom prst="roundRect">
            <a:avLst/>
          </a:prstGeom>
          <a:solidFill>
            <a:srgbClr val="10161E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828800"/>
            <a:ext cx="2926080" cy="1737360"/>
          </a:xfrm>
          <a:prstGeom prst="arc">
            <a:avLst/>
          </a:prstGeom>
          <a:solidFill>
            <a:srgbClr val="0D1117">
              <a:alpha val="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1828800"/>
            <a:ext cx="2926080" cy="1737360"/>
          </a:xfrm>
          <a:prstGeom prst="arc">
            <a:avLst/>
          </a:prstGeom>
          <a:solidFill>
            <a:srgbClr val="0D1117">
              <a:alpha val="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 Win Probability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33832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 Remaining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15400" y="3474720"/>
            <a:ext cx="1965960" cy="0"/>
          </a:xfrm>
          <a:prstGeom prst="line">
            <a:avLst/>
          </a:prstGeom>
          <a:noFill/>
          <a:ln w="12700">
            <a:solidFill>
              <a:srgbClr val="3841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3355848"/>
            <a:ext cx="182880" cy="18288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40690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4160520"/>
            <a:ext cx="1965960" cy="0"/>
          </a:xfrm>
          <a:prstGeom prst="line">
            <a:avLst/>
          </a:prstGeom>
          <a:noFill/>
          <a:ln w="12700">
            <a:solidFill>
              <a:srgbClr val="3841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4041648"/>
            <a:ext cx="182880" cy="18288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47548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15400" y="4846320"/>
            <a:ext cx="1965960" cy="0"/>
          </a:xfrm>
          <a:prstGeom prst="line">
            <a:avLst/>
          </a:prstGeom>
          <a:noFill/>
          <a:ln w="12700">
            <a:solidFill>
              <a:srgbClr val="3841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4727448"/>
            <a:ext cx="182880" cy="18288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5486400"/>
            <a:ext cx="1920240" cy="411480"/>
          </a:xfrm>
          <a:prstGeom prst="roundRect">
            <a:avLst/>
          </a:prstGeom>
          <a:solidFill>
            <a:srgbClr val="2A0B0B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56144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PHASE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2 &amp;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Intelligence for Broadcast and Franchise Planning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11338560" cy="2423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73152" cy="242316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&amp; Fan 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real-time hybrid probability graphics for TV, OTT, and second-screen apps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strip per over (green/amber/red by run rate)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engagement via explainable pressure &amp; momentum signals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Icons: 📺 · 📱 · 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840480"/>
            <a:ext cx="11338560" cy="2606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840480"/>
            <a:ext cx="73152" cy="26060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069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Intelligence for Franchises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team performance under pressure using combined ML + DL signals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Phase-specific win probabilities: Powerplay / Middle / Death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53949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planning: identifies phase-specific strengths and weaknesses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Icons: 🏆 · 📊 · 🎯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4–7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Platform Expansion: Operations, Products, and Revenue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5532120" cy="2331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73152" cy="2331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Hybrid Deployment Blueprint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packaging (ML + DL bundles) · Unified inference contract · Batch scoring template · Reusable for other sports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5532120" cy="2331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234440"/>
            <a:ext cx="73152" cy="2331720"/>
          </a:xfrm>
          <a:prstGeom prst="rect">
            <a:avLst/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630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Monitoring &amp; Governance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1892808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PSI, Z-shift, AUC drift detection · Auditable retrain policies · monitor_only vs retrain_required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840480"/>
            <a:ext cx="5532120" cy="2331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40480"/>
            <a:ext cx="73152" cy="233172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6908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Productization Bridge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498848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notebook-trained ML + DL models into monitored production APIs · Useful for high-stakes probabilistic products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532120" cy="2331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840480"/>
            <a:ext cx="73152" cy="2331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06908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Platforms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4498848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dashboard integration · API-based hybrid probability service · Live and post-match insights for media and teams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at a Glance (Source-tagged)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749040" cy="1508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3474720" cy="72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70.1625%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2002536"/>
            <a:ext cx="3529584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(ML+DL) Test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097280"/>
            <a:ext cx="3749040" cy="1508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207008"/>
            <a:ext cx="3474720" cy="72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0.790987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98848" y="2002536"/>
            <a:ext cx="3529584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ROC-AUC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097280"/>
            <a:ext cx="3383280" cy="1508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207008"/>
            <a:ext cx="3108960" cy="72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97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430768" y="2002536"/>
            <a:ext cx="3163824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5760720" cy="3749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154680"/>
          <a:ext cx="5166360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2697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Best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Hybrid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0.771729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Hybrid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Hybrid 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0.7909874409929845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Brier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355080" y="2788920"/>
            <a:ext cx="5349240" cy="3749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017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Features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537960" y="333756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Cricket Analytics (ML+DL) — Ready for Production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6492240" cy="5212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Ball-level explainable hybrid win probability with test accuracy 0.701625 and ROC-AUC 0.7909874409929845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simulation enables "what if" strategy analysis never before available in IPL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bridges the gap between ML+DL model output and human tactical decisions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MLOps pipeline with drift detection, audit logs, and automated retrain triggers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1097280"/>
            <a:ext cx="4526280" cy="521208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52360" y="182880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phase-wise specialist DL routing (especially death overs) with automatic hybrid gating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52360" y="27706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player-level form embeddings with venue and pitch condition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3712464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low-latency streaming inference for live broadcast and dugout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465429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Introduce drift-aware online recalibration for hybrid probability reliability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" y="6556248"/>
            <a:ext cx="1197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Strategy Analysis · Explainable AI · MLOps · IPL Win Probability · Industry Research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Industry Research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Counterfactual Strategy Analysis in IPL Using Explainable Win Probability Modeling</dc:title>
  <dc:subject>Counterfactual Strategy Analysis in IPL</dc:subject>
  <dc:creator>IPL Analytics Research Team</dc:creator>
  <cp:lastModifiedBy>IPL Analytics Research Team</cp:lastModifiedBy>
  <cp:revision>1</cp:revision>
  <dcterms:created xsi:type="dcterms:W3CDTF">2026-04-16T18:41:28Z</dcterms:created>
  <dcterms:modified xsi:type="dcterms:W3CDTF">2026-04-16T18:41:28Z</dcterms:modified>
</cp:coreProperties>
</file>