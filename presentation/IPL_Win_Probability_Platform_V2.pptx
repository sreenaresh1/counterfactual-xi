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71" r:id="rId2"/>
    <p:sldId id="257" r:id="rId3"/>
    <p:sldId id="258" r:id="rId4"/>
    <p:sldId id="259" r:id="rId5"/>
    <p:sldId id="27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14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Win %</c:v>
                </c:pt>
              </c:strCache>
            </c:strRef>
          </c:tx>
          <c:spPr>
            <a:ln w="25400" cap="flat">
              <a:solidFill>
                <a:srgbClr val="FFB90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FB900"/>
              </a:solidFill>
              <a:ln w="9525" cap="flat">
                <a:solidFill>
                  <a:srgbClr val="FFB900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  <c:pt idx="8">
                  <c:v>16</c:v>
                </c:pt>
                <c:pt idx="9">
                  <c:v>18</c:v>
                </c:pt>
                <c:pt idx="10">
                  <c:v>20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0.92</c:v>
                </c:pt>
                <c:pt idx="1">
                  <c:v>0.9</c:v>
                </c:pt>
                <c:pt idx="2">
                  <c:v>0.86</c:v>
                </c:pt>
                <c:pt idx="3">
                  <c:v>0.79</c:v>
                </c:pt>
                <c:pt idx="4">
                  <c:v>0.68</c:v>
                </c:pt>
                <c:pt idx="5">
                  <c:v>0.55000000000000004</c:v>
                </c:pt>
                <c:pt idx="6">
                  <c:v>0.39</c:v>
                </c:pt>
                <c:pt idx="7">
                  <c:v>0.27</c:v>
                </c:pt>
                <c:pt idx="8">
                  <c:v>0.17</c:v>
                </c:pt>
                <c:pt idx="9">
                  <c:v>0.1</c:v>
                </c:pt>
                <c:pt idx="10">
                  <c:v>0.05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0DC-4FD5-8B93-B0939E82A5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21262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1B22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D1117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Team A</c:v>
                </c:pt>
              </c:strCache>
            </c:strRef>
          </c:tx>
          <c:spPr>
            <a:solidFill>
              <a:srgbClr val="FFB900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Powerplay</c:v>
                </c:pt>
                <c:pt idx="1">
                  <c:v>Middle</c:v>
                </c:pt>
                <c:pt idx="2">
                  <c:v>Death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7.8</c:v>
                </c:pt>
                <c:pt idx="1">
                  <c:v>8.1999999999999993</c:v>
                </c:pt>
                <c:pt idx="2">
                  <c:v>10.9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C0C-4721-AC15-6A12A12625B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League Avg</c:v>
                </c:pt>
              </c:strCache>
            </c:strRef>
          </c:tx>
          <c:spPr>
            <a:solidFill>
              <a:srgbClr val="00C853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Powerplay</c:v>
                </c:pt>
                <c:pt idx="1">
                  <c:v>Middle</c:v>
                </c:pt>
                <c:pt idx="2">
                  <c:v>Death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7.5</c:v>
                </c:pt>
                <c:pt idx="1">
                  <c:v>8</c:v>
                </c:pt>
                <c:pt idx="2">
                  <c:v>10.5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C0C-4721-AC15-6A12A12625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21262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1B22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8B949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D1117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CRR</c:v>
                </c:pt>
              </c:strCache>
            </c:strRef>
          </c:tx>
          <c:spPr>
            <a:ln w="25400" cap="flat">
              <a:solidFill>
                <a:srgbClr val="FFB90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FB900"/>
              </a:solidFill>
              <a:ln w="9525" cap="flat">
                <a:solidFill>
                  <a:srgbClr val="FFB900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7.2</c:v>
                </c:pt>
                <c:pt idx="2">
                  <c:v>7.8</c:v>
                </c:pt>
                <c:pt idx="3">
                  <c:v>8.3000000000000007</c:v>
                </c:pt>
                <c:pt idx="4">
                  <c:v>8.6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747-45C8-BF22-FABDDDBE947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RRR</c:v>
                </c:pt>
              </c:strCache>
            </c:strRef>
          </c:tx>
          <c:spPr>
            <a:ln w="25400" cap="flat">
              <a:solidFill>
                <a:srgbClr val="00C85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C853"/>
              </a:solidFill>
              <a:ln w="9525" cap="flat">
                <a:solidFill>
                  <a:srgbClr val="00C853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10.4</c:v>
                </c:pt>
                <c:pt idx="1">
                  <c:v>9.8000000000000007</c:v>
                </c:pt>
                <c:pt idx="2">
                  <c:v>9.1</c:v>
                </c:pt>
                <c:pt idx="3">
                  <c:v>8.8000000000000007</c:v>
                </c:pt>
                <c:pt idx="4">
                  <c:v>8.6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747-45C8-BF22-FABDDDBE947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21262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1B22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8B949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D1117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2+ wickets per 6 balls</c:v>
                </c:pt>
              </c:strCache>
            </c:strRef>
          </c:tx>
          <c:spPr>
            <a:solidFill>
              <a:srgbClr val="FFB90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671-49AC-BE25-46CC8B2A6B2C}"/>
              </c:ext>
            </c:extLst>
          </c:dPt>
          <c:dPt>
            <c:idx val="1"/>
            <c:invertIfNegative val="0"/>
            <c:bubble3D val="0"/>
            <c:spPr>
              <a:solidFill>
                <a:srgbClr val="00C85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671-49AC-BE25-46CC8B2A6B2C}"/>
              </c:ext>
            </c:extLst>
          </c:dPt>
          <c:dPt>
            <c:idx val="2"/>
            <c:invertIfNegative val="0"/>
            <c:bubble3D val="0"/>
            <c:spPr>
              <a:solidFill>
                <a:srgbClr val="D50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671-49AC-BE25-46CC8B2A6B2C}"/>
              </c:ext>
            </c:extLst>
          </c:dPt>
          <c:cat>
            <c:strRef>
              <c:f>Sheet1!$A$2:$A$4</c:f>
              <c:strCache>
                <c:ptCount val="3"/>
                <c:pt idx="0">
                  <c:v>Powerplay</c:v>
                </c:pt>
                <c:pt idx="1">
                  <c:v>Middle</c:v>
                </c:pt>
                <c:pt idx="2">
                  <c:v>Death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7.0000000000000007E-2</c:v>
                </c:pt>
                <c:pt idx="1">
                  <c:v>0.11</c:v>
                </c:pt>
                <c:pt idx="2">
                  <c:v>0.18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671-49AC-BE25-46CC8B2A6B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2"/>
          <c:min val="0"/>
        </c:scaling>
        <c:delete val="0"/>
        <c:axPos val="l"/>
        <c:majorGridlines>
          <c:spPr>
            <a:ln w="12700" cap="flat">
              <a:solidFill>
                <a:srgbClr val="21262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1B22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D1117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06B6D4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8FAF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Stacking Ensemble</c:v>
                </c:pt>
                <c:pt idx="1">
                  <c:v>Deep Learning (MLP)</c:v>
                </c:pt>
                <c:pt idx="2">
                  <c:v>Hybrid (ML+DL)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70.16</c:v>
                </c:pt>
                <c:pt idx="1">
                  <c:v>70.03</c:v>
                </c:pt>
                <c:pt idx="2">
                  <c:v>66.7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9DE-4801-BE3C-FEC8A867BFC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8FAF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Stacking Ensemble</c:v>
                </c:pt>
                <c:pt idx="1">
                  <c:v>Deep Learning (MLP)</c:v>
                </c:pt>
                <c:pt idx="2">
                  <c:v>Hybrid (ML+DL)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79.099999999999994</c:v>
                </c:pt>
                <c:pt idx="1">
                  <c:v>78.849999999999994</c:v>
                </c:pt>
                <c:pt idx="2">
                  <c:v>78.849999999999994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9DE-4801-BE3C-FEC8A867BFC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6817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deck presents a production-grade IPL analytics system focused on explainable win probability and strategy simulation. The architecture combines ensemble ML, counterfactual what-if analysis, and deployable MLOps governance.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EDA confirms nonlinear pressure dynamics: win probability declines sharply beyond high required run rates. Death-overs momentum and collapse patterns motivated explicit pressure and short-window momentum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IN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384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554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005840"/>
            <a:ext cx="10332720" cy="4663440"/>
          </a:xfrm>
          <a:prstGeom prst="ellipse">
            <a:avLst/>
          </a:prstGeom>
          <a:solidFill>
            <a:srgbClr val="0D1117">
              <a:alpha val="0"/>
            </a:srgbClr>
          </a:solidFill>
          <a:ln w="12700">
            <a:solidFill>
              <a:srgbClr val="FFB900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91440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B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INDUSTRY RESEARCH PROJECT · IPL ANALYTICS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Counterfactual Strategy Analysis in IPL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645920" y="2834640"/>
            <a:ext cx="8869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B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Explainable Win Probability Modeling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0" y="3520440"/>
            <a:ext cx="4873752" cy="0"/>
          </a:xfrm>
          <a:prstGeom prst="line">
            <a:avLst/>
          </a:prstGeom>
          <a:noFill/>
          <a:ln w="12700">
            <a:solidFill>
              <a:srgbClr val="FFB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0" y="388620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ML Researchers · Franchise Analysts · Enterprise Technology Leaders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8A6B00"/>
          </a:solidFill>
          <a:ln w="12700">
            <a:solidFill>
              <a:srgbClr val="8A6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82880" y="6519672"/>
            <a:ext cx="1179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 Ensemble · SHAP Explainability · MLOps Monitoring · Counterfactual Simulation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338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Problem Definition &amp; Planning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IPL Decisions Need Better Intelligence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1124712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Challenge: Captains and analysts make 200+ tactical decisions per match without real-time, quantified probability support.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Limitations: Existing tools (like Duckworth-Lewis) are static and rule-based, preventing dynamic 'what-if' counterfactual simulations.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Build an explainable, ball-by-ball win probability model integrating historical data with advanced match-state features.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 A full-stack pipeline from data ingestion to a deployed API and intuitive dashboard.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338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Data Collection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 the Historical Foundations (2007/08 - 2024)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Dataset: 1,095 matches including season, venue, toss decisions, and match outcomes.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Deliveries Dataset: 260,920 ball-by-ball records capturing runs, wickets, and extras.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Focus exclusively on standard innings, excluding super-overs and severe DLS-affected anomalies to preserve data integrity.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0" y="1828800"/>
            <a:ext cx="228600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0" y="20116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1,095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0" y="2743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Matches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0" y="1828800"/>
            <a:ext cx="228600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4000" y="20116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260,920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9144000" y="2743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Deliveries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338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Data Preparation (Cleaning &amp; Wrangling)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Ensuring Structural Integrity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1124712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Checks: Removed 'No Result' and 'Abandoned' matches. Dropped missing values in target score pipelines.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Cleaning: Re-mapped discontinued team names (e.g., Delhi Daredevils to Delhi Capitals).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Merging: Joined matches.csv with deliveries.csv using 'match_id' to append match context (target score, batting team) to every ball.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Leakage Prevention: Season-aware splitting applied early to ensure future matches do not leak into training sets.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28016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B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74320" y="301752"/>
            <a:ext cx="11521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Patterns From 250,000 IPL Deliveries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11612880" cy="0"/>
          </a:xfrm>
          <a:prstGeom prst="line">
            <a:avLst/>
          </a:prstGeom>
          <a:noFill/>
          <a:ln w="12700">
            <a:solidFill>
              <a:srgbClr val="FFB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5669280" cy="25603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B31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170432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% vs Required Run Rate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36208" y="1097280"/>
            <a:ext cx="5486400" cy="25603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B31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19088" y="1170432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Phase-wise Scoring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3840480"/>
            <a:ext cx="5669280" cy="25603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B31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3913632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Rate Progression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36208" y="3840480"/>
            <a:ext cx="5486400" cy="25603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B31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19088" y="3913632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Wicket Collapse Distribution</a:t>
            </a:r>
            <a:endParaRPr lang="en-US" sz="1200" dirty="0"/>
          </a:p>
        </p:txBody>
      </p:sp>
      <p:graphicFrame>
        <p:nvGraphicFramePr>
          <p:cNvPr id="13" name="Chart 0"/>
          <p:cNvGraphicFramePr/>
          <p:nvPr/>
        </p:nvGraphicFramePr>
        <p:xfrm>
          <a:off x="713232" y="1417320"/>
          <a:ext cx="507492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Chart 1"/>
          <p:cNvGraphicFramePr/>
          <p:nvPr/>
        </p:nvGraphicFramePr>
        <p:xfrm>
          <a:off x="6537960" y="1417320"/>
          <a:ext cx="489204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5" name="Chart 2"/>
          <p:cNvGraphicFramePr/>
          <p:nvPr/>
        </p:nvGraphicFramePr>
        <p:xfrm>
          <a:off x="713232" y="4160520"/>
          <a:ext cx="507492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6" name="Chart 3"/>
          <p:cNvGraphicFramePr/>
          <p:nvPr/>
        </p:nvGraphicFramePr>
        <p:xfrm>
          <a:off x="6537960" y="4160520"/>
          <a:ext cx="489204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338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 Feature Engineering &amp; Selection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Distilling 25 Strategic Context Variables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1124712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Mechanics: overs_remaining, wickets_remaining, target, required_run_rate, current_run_rate.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Metrics: runs_last_6, runs_last_12, momentum_short, momentum_medium, momentum_swing.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&amp; Risk: rr_pressure, wicket_pressure, pressure_index, collapse_risk, win_pressure.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Context: match_phase_encoded, innings_type, resource_remaining, match_progress, boundary_intensity.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Selection: Kept features demonstrating high SHAP global importance, ensuring deep contextual awareness.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338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6. Model Selection &amp; Training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to Advanced Architecture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1124712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Approach: Logistic Regression and simple Random Forest models.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ML (Stacking): Combined Random Forest, Gradient Boosting, and XGBoost using a Logistic Meta-Learner. Yielded highly calibrated probabilities.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Industry-Grade Deep Learning (DL): Built an MLP neural network architecture optimized with Adam, batch normalization, and dropout layers.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Split: 96,000 rows for Training, 24,000 rows for Testing.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338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7. Model Evaluation &amp; Testing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Diagnostics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645920"/>
          <a:ext cx="54864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 Ensemble achieved top ROC-AUC (0.7910) and Accuracy (70.16%).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(MLP) tracked closely at 0.7885 AUC and 70.03% Accuracy.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configuration evaluated, but Stacking (ML-only mode) was ultimately selected for the final deployment due to calibration stability.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338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8. Hyperparameter Tuning &amp; Calibration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Optimizing for Deployment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1124712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Tuning: Applied cross-validated Grid Search on tree depths, learning rates (XGBoost), and hidden layer sizes (MLP).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Threshold: Tuned the final decision boundary to 0.34 based on F1-score maximization for unbalanced match states.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Calibration: Utilized Isotonic Regression to ensure output probabilities represent true real-world likelihoods (Reliability Plot analysis).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No-Leak pipeline guaranteed that hyperparameter decisions were made strictly on validation sets, never on the final test set.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338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9. Model Deployment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Predictions via API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1124712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Framework: Packaged the final model artifacts (joblib format) into a high-performance FastAPI backend.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Endpoints: Established 16 OpenAPI-compliant REST endpoints (e.g., /api/predict, /api/counterfactual).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Single-page application frontend securely fetching data from the backend seamlessly.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Portability: Containerized and deployed across scalable infrastructure.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338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10. Monitoring &amp; Maintenance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Governance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1124712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Monitoring: Automatically tracks Population Stability Index (PSI) and Z-Shifts on live inbound data streams.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Flags: Live rolling AUC tracking. Triggers 'retrain_required' status if AUC drops below 0.72.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Logging: Every automated check and maintenance action is saved directly to artifacts/monitoring JSON logs.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Retraining Pipeline: One-click '/api/trigger_retrain' endpoint to automatically pull fresh data, preprocess, and queue a new job.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338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11. Website Features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IPL XI Command Center Experience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1124712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Dashboard: Real-time API connectivity tracking dataset and model metrics.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Intelligence: Interactive animated gauge displaying live win probabilities and tactical phase insights.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Lab: Interactive 'What-If' builder estimating outcome shifts from aggressive or defensive maneuvers.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Timeline: Plotted chart overlaying win probability with match pressure across 120 deliveries.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(SHAP): Global importance charts exposing the inner workings of the ensemble.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Franchise Intelligence: Phase dominance radar charts (Powerplay vs Death) and AI-assisted auction insights.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0"/>
            <a:ext cx="1219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5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1004</Words>
  <Application>Microsoft Office PowerPoint</Application>
  <PresentationFormat>Widescreen</PresentationFormat>
  <Paragraphs>92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IPL XI Command Center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IPL Win Probability Platform</dc:title>
  <dc:subject>IPL Win Probability Analytics</dc:subject>
  <dc:creator>IPL Analytics Team</dc:creator>
  <cp:lastModifiedBy>Sree Naresh A 24BCS278</cp:lastModifiedBy>
  <cp:revision>2</cp:revision>
  <dcterms:created xsi:type="dcterms:W3CDTF">2026-05-01T06:38:46Z</dcterms:created>
  <dcterms:modified xsi:type="dcterms:W3CDTF">2026-05-01T07:19:43Z</dcterms:modified>
</cp:coreProperties>
</file>