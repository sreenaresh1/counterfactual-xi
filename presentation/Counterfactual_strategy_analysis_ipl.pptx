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Records Removed During Cleaning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Removed</c:v>
                </c:pt>
              </c:strCache>
            </c:strRef>
          </c:tx>
          <c:spPr>
            <a:solidFill>
              <a:srgbClr val="E8439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 Result (5)</c:v>
                </c:pt>
                <c:pt idx="1">
                  <c:v>Super Overs (14)</c:v>
                </c:pt>
                <c:pt idx="2">
                  <c:v>DLS Matches (21)</c:v>
                </c:pt>
                <c:pt idx="3">
                  <c:v>Non-Std Innings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14</c:v>
                </c:pt>
                <c:pt idx="2">
                  <c:v>21</c:v>
                </c:pt>
                <c:pt idx="3">
                  <c:v>7650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7E-498F-9884-327F704744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Distribution of Runs Per Ball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 (thousands)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0 runs</c:v>
                </c:pt>
                <c:pt idx="1">
                  <c:v>1 run</c:v>
                </c:pt>
                <c:pt idx="2">
                  <c:v>2 runs</c:v>
                </c:pt>
                <c:pt idx="3">
                  <c:v>3 runs</c:v>
                </c:pt>
                <c:pt idx="4">
                  <c:v>4 runs</c:v>
                </c:pt>
                <c:pt idx="5">
                  <c:v>5 runs</c:v>
                </c:pt>
                <c:pt idx="6">
                  <c:v>6 runs</c:v>
                </c:pt>
                <c:pt idx="7">
                  <c:v>7 runs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108000</c:v>
                </c:pt>
                <c:pt idx="1">
                  <c:v>78000</c:v>
                </c:pt>
                <c:pt idx="2">
                  <c:v>28000</c:v>
                </c:pt>
                <c:pt idx="3">
                  <c:v>7000</c:v>
                </c:pt>
                <c:pt idx="4">
                  <c:v>19000</c:v>
                </c:pt>
                <c:pt idx="5">
                  <c:v>600</c:v>
                </c:pt>
                <c:pt idx="6">
                  <c:v>13000</c:v>
                </c:pt>
                <c:pt idx="7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35-40E6-AB61-F092CB53E3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Wickets Distribution Across Overs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Wickets</c:v>
                </c:pt>
              </c:strCache>
            </c:strRef>
          </c:tx>
          <c:spPr>
            <a:solidFill>
              <a:srgbClr val="E84393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320</c:v>
                </c:pt>
                <c:pt idx="1">
                  <c:v>510</c:v>
                </c:pt>
                <c:pt idx="2">
                  <c:v>680</c:v>
                </c:pt>
                <c:pt idx="3">
                  <c:v>790</c:v>
                </c:pt>
                <c:pt idx="4">
                  <c:v>830</c:v>
                </c:pt>
                <c:pt idx="5">
                  <c:v>870</c:v>
                </c:pt>
                <c:pt idx="6">
                  <c:v>820</c:v>
                </c:pt>
                <c:pt idx="7">
                  <c:v>850</c:v>
                </c:pt>
                <c:pt idx="8">
                  <c:v>920</c:v>
                </c:pt>
                <c:pt idx="9">
                  <c:v>960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A6-4933-A180-4CDE91D44A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Average Run Rate Progression (Overs 1–20)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RPO</c:v>
                </c:pt>
              </c:strCache>
            </c:strRef>
          </c:tx>
          <c:spPr>
            <a:ln w="2540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6.2</c:v>
                </c:pt>
                <c:pt idx="1">
                  <c:v>7.1</c:v>
                </c:pt>
                <c:pt idx="2">
                  <c:v>7.4</c:v>
                </c:pt>
                <c:pt idx="3">
                  <c:v>7.9</c:v>
                </c:pt>
                <c:pt idx="4">
                  <c:v>7.6</c:v>
                </c:pt>
                <c:pt idx="5">
                  <c:v>8.1</c:v>
                </c:pt>
                <c:pt idx="6">
                  <c:v>7</c:v>
                </c:pt>
                <c:pt idx="7">
                  <c:v>6.8</c:v>
                </c:pt>
                <c:pt idx="8">
                  <c:v>6.9</c:v>
                </c:pt>
                <c:pt idx="9">
                  <c:v>7.1</c:v>
                </c:pt>
                <c:pt idx="10">
                  <c:v>7.3</c:v>
                </c:pt>
                <c:pt idx="11">
                  <c:v>7.2</c:v>
                </c:pt>
                <c:pt idx="12">
                  <c:v>7.5</c:v>
                </c:pt>
                <c:pt idx="13">
                  <c:v>7.4</c:v>
                </c:pt>
                <c:pt idx="14">
                  <c:v>7.8</c:v>
                </c:pt>
                <c:pt idx="15">
                  <c:v>8.1999999999999993</c:v>
                </c:pt>
                <c:pt idx="16">
                  <c:v>8.8000000000000007</c:v>
                </c:pt>
                <c:pt idx="17">
                  <c:v>9.4</c:v>
                </c:pt>
                <c:pt idx="18">
                  <c:v>10.1</c:v>
                </c:pt>
                <c:pt idx="19">
                  <c:v>10.8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63F-4F5C-B449-5B8720C8A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Win % vs Required Run Rate Bucket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RRR 0-6</c:v>
                </c:pt>
                <c:pt idx="1">
                  <c:v>RRR 6-8</c:v>
                </c:pt>
                <c:pt idx="2">
                  <c:v>RRR 8-10</c:v>
                </c:pt>
                <c:pt idx="3">
                  <c:v>RRR 10-12</c:v>
                </c:pt>
                <c:pt idx="4">
                  <c:v>RRR 12+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</c:v>
                </c:pt>
                <c:pt idx="1">
                  <c:v>0.54</c:v>
                </c:pt>
                <c:pt idx="2">
                  <c:v>0.38</c:v>
                </c:pt>
                <c:pt idx="3">
                  <c:v>0.21</c:v>
                </c:pt>
                <c:pt idx="4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C2-4419-914D-517AF2F7B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Top 10 Feature Correlations with win_label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win_label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wickets_remaining</c:v>
                </c:pt>
                <c:pt idx="1">
                  <c:v>current_run_rate</c:v>
                </c:pt>
                <c:pt idx="2">
                  <c:v>momentum_index</c:v>
                </c:pt>
                <c:pt idx="3">
                  <c:v>runs_last_12</c:v>
                </c:pt>
                <c:pt idx="4">
                  <c:v>runs_last_6</c:v>
                </c:pt>
                <c:pt idx="5">
                  <c:v>boundaries_last_6</c:v>
                </c:pt>
                <c:pt idx="6">
                  <c:v>resources_remaining</c:v>
                </c:pt>
                <c:pt idx="7">
                  <c:v>cumulative_runs</c:v>
                </c:pt>
                <c:pt idx="8">
                  <c:v>is_chasing</c:v>
                </c:pt>
                <c:pt idx="9">
                  <c:v>inning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0.23699999999999999</c:v>
                </c:pt>
                <c:pt idx="1">
                  <c:v>0.17499999999999999</c:v>
                </c:pt>
                <c:pt idx="2">
                  <c:v>0.129</c:v>
                </c:pt>
                <c:pt idx="3">
                  <c:v>0.128</c:v>
                </c:pt>
                <c:pt idx="4">
                  <c:v>0.108</c:v>
                </c:pt>
                <c:pt idx="5">
                  <c:v>9.8000000000000004E-2</c:v>
                </c:pt>
                <c:pt idx="6">
                  <c:v>7.9000000000000001E-2</c:v>
                </c:pt>
                <c:pt idx="7">
                  <c:v>6.2E-2</c:v>
                </c:pt>
                <c:pt idx="8">
                  <c:v>5.7000000000000002E-2</c:v>
                </c:pt>
                <c:pt idx="9">
                  <c:v>5.7000000000000002E-2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2A-426F-92AC-5D71531F2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Train vs Test Accuracy — All Models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XGBoost</c:v>
                </c:pt>
                <c:pt idx="5">
                  <c:v>Stacking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0.79239999999999999</c:v>
                </c:pt>
                <c:pt idx="1">
                  <c:v>0.85819999999999996</c:v>
                </c:pt>
                <c:pt idx="2">
                  <c:v>0.81859999999999999</c:v>
                </c:pt>
                <c:pt idx="3">
                  <c:v>0.79239999999999999</c:v>
                </c:pt>
                <c:pt idx="4">
                  <c:v>0.81879999999999997</c:v>
                </c:pt>
                <c:pt idx="5">
                  <c:v>0.83289999999999997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29-4005-93D9-8F376F699A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ln w="3175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XGBoost</c:v>
                </c:pt>
                <c:pt idx="5">
                  <c:v>Stacking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0.72060000000000002</c:v>
                </c:pt>
                <c:pt idx="1">
                  <c:v>0.71650000000000003</c:v>
                </c:pt>
                <c:pt idx="2">
                  <c:v>0.76459999999999995</c:v>
                </c:pt>
                <c:pt idx="3">
                  <c:v>0.75939999999999996</c:v>
                </c:pt>
                <c:pt idx="4">
                  <c:v>0.76680000000000004</c:v>
                </c:pt>
                <c:pt idx="5">
                  <c:v>0.77370000000000005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29-4005-93D9-8F376F699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7"/>
          <c:min val="0.7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Full Model Comparison (Test 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XGBoost</c:v>
                </c:pt>
                <c:pt idx="5">
                  <c:v>Stacking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0.67390000000000005</c:v>
                </c:pt>
                <c:pt idx="1">
                  <c:v>0.6744</c:v>
                </c:pt>
                <c:pt idx="2">
                  <c:v>0.78220000000000001</c:v>
                </c:pt>
                <c:pt idx="3">
                  <c:v>0.77190000000000003</c:v>
                </c:pt>
                <c:pt idx="4">
                  <c:v>0.75529999999999997</c:v>
                </c:pt>
                <c:pt idx="5">
                  <c:v>0.77449999999999997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B0-492A-A424-93B4ED9B2A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XGBoost</c:v>
                </c:pt>
                <c:pt idx="5">
                  <c:v>Stacking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0.83420000000000005</c:v>
                </c:pt>
                <c:pt idx="1">
                  <c:v>0.67700000000000005</c:v>
                </c:pt>
                <c:pt idx="2">
                  <c:v>0.80759999999999998</c:v>
                </c:pt>
                <c:pt idx="3">
                  <c:v>0.82069999999999999</c:v>
                </c:pt>
                <c:pt idx="4">
                  <c:v>0.81810000000000005</c:v>
                </c:pt>
                <c:pt idx="5">
                  <c:v>0.79869999999999997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B0-492A-A424-93B4ED9B2A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8439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XGBoost</c:v>
                </c:pt>
                <c:pt idx="5">
                  <c:v>Stacking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0.42359999999999998</c:v>
                </c:pt>
                <c:pt idx="1">
                  <c:v>0.65090000000000003</c:v>
                </c:pt>
                <c:pt idx="2">
                  <c:v>0.73340000000000005</c:v>
                </c:pt>
                <c:pt idx="3">
                  <c:v>0.68820000000000003</c:v>
                </c:pt>
                <c:pt idx="4">
                  <c:v>0.64859999999999995</c:v>
                </c:pt>
                <c:pt idx="5">
                  <c:v>0.72619999999999996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B0-492A-A424-93B4ED9B2A7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XGBoost</c:v>
                </c:pt>
                <c:pt idx="5">
                  <c:v>Stacking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0.56179999999999997</c:v>
                </c:pt>
                <c:pt idx="1">
                  <c:v>0.66369999999999996</c:v>
                </c:pt>
                <c:pt idx="2">
                  <c:v>0.76870000000000005</c:v>
                </c:pt>
                <c:pt idx="3">
                  <c:v>0.74860000000000004</c:v>
                </c:pt>
                <c:pt idx="4">
                  <c:v>0.72350000000000003</c:v>
                </c:pt>
                <c:pt idx="5">
                  <c:v>0.76070000000000004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B0-492A-A424-93B4ED9B2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35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Calibration Curve (Isotonic Regression)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Calibrated Model</c:v>
                </c:pt>
              </c:strCache>
            </c:strRef>
          </c:tx>
          <c:spPr>
            <a:ln w="2540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0.02</c:v>
                </c:pt>
                <c:pt idx="1">
                  <c:v>0.11</c:v>
                </c:pt>
                <c:pt idx="2">
                  <c:v>0.21</c:v>
                </c:pt>
                <c:pt idx="3">
                  <c:v>0.31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0.89</c:v>
                </c:pt>
                <c:pt idx="10">
                  <c:v>0.97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FBC-484F-93AE-A515319A7C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 Calibration</c:v>
                </c:pt>
              </c:strCache>
            </c:strRef>
          </c:tx>
          <c:spPr>
            <a:ln w="25400" cap="flat">
              <a:solidFill>
                <a:srgbClr val="7A8BA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A8BAF"/>
              </a:solidFill>
              <a:ln w="9525" cap="flat">
                <a:solidFill>
                  <a:srgbClr val="7A8BAF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FBC-484F-93AE-A515319A7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ML vs DL vs Hybrid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Stacking ML</c:v>
                </c:pt>
                <c:pt idx="1">
                  <c:v>Hybrid ML+DL</c:v>
                </c:pt>
                <c:pt idx="2">
                  <c:v>DL Phase-Spec</c:v>
                </c:pt>
                <c:pt idx="3">
                  <c:v>DL (MLP)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0.77449999999999997</c:v>
                </c:pt>
                <c:pt idx="1">
                  <c:v>0.77170000000000005</c:v>
                </c:pt>
                <c:pt idx="2">
                  <c:v>0.74570000000000003</c:v>
                </c:pt>
                <c:pt idx="3">
                  <c:v>0.7379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FD-4123-AD27-6E23552B09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Stacking ML</c:v>
                </c:pt>
                <c:pt idx="1">
                  <c:v>Hybrid ML+DL</c:v>
                </c:pt>
                <c:pt idx="2">
                  <c:v>DL Phase-Spec</c:v>
                </c:pt>
                <c:pt idx="3">
                  <c:v>DL (MLP)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0.76070000000000004</c:v>
                </c:pt>
                <c:pt idx="1">
                  <c:v>0.78600000000000003</c:v>
                </c:pt>
                <c:pt idx="2">
                  <c:v>0.74850000000000005</c:v>
                </c:pt>
                <c:pt idx="3">
                  <c:v>0.74150000000000005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FD-4123-AD27-6E23552B09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Stacking ML</c:v>
                </c:pt>
                <c:pt idx="1">
                  <c:v>Hybrid ML+DL</c:v>
                </c:pt>
                <c:pt idx="2">
                  <c:v>DL Phase-Spec</c:v>
                </c:pt>
                <c:pt idx="3">
                  <c:v>DL (MLP)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0.86</c:v>
                </c:pt>
                <c:pt idx="1">
                  <c:v>0.86</c:v>
                </c:pt>
                <c:pt idx="2">
                  <c:v>0.82150000000000001</c:v>
                </c:pt>
                <c:pt idx="3">
                  <c:v>0.81569999999999998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FD-4123-AD27-6E23552B0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72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Counterfactual Scenario Win Probabilities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Probability</c:v>
                </c:pt>
              </c:strCache>
            </c:strRef>
          </c:tx>
          <c:spPr>
            <a:solidFill>
              <a:srgbClr val="7A8B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A7-42D7-AE94-1CF696EDAA5D}"/>
              </c:ext>
            </c:extLst>
          </c:dPt>
          <c:dPt>
            <c:idx val="1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A7-42D7-AE94-1CF696EDAA5D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A7-42D7-AE94-1CF696EDAA5D}"/>
              </c:ext>
            </c:extLst>
          </c:dPt>
          <c:dPt>
            <c:idx val="3"/>
            <c:invertIfNegative val="0"/>
            <c:bubble3D val="0"/>
            <c:spPr>
              <a:solidFill>
                <a:srgbClr val="7C5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A7-42D7-AE94-1CF696EDAA5D}"/>
              </c:ext>
            </c:extLst>
          </c:dPt>
          <c:dPt>
            <c:idx val="4"/>
            <c:invertIfNegative val="0"/>
            <c:bubble3D val="0"/>
            <c:spPr>
              <a:solidFill>
                <a:srgbClr val="E843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A7-42D7-AE94-1CF696EDAA5D}"/>
              </c:ext>
            </c:extLst>
          </c:dPt>
          <c:cat>
            <c:strRef>
              <c:f>Sheet1!$A$2:$A$6</c:f>
              <c:strCache>
                <c:ptCount val="5"/>
                <c:pt idx="0">
                  <c:v>Base State</c:v>
                </c:pt>
                <c:pt idx="1">
                  <c:v>Aggressive Over
(+12 runs)</c:v>
                </c:pt>
                <c:pt idx="2">
                  <c:v>Optimal Over
(+10 runs)</c:v>
                </c:pt>
                <c:pt idx="3">
                  <c:v>Defensive Over
(+4 runs)</c:v>
                </c:pt>
                <c:pt idx="4">
                  <c:v>Wicket Loss
(+6 runs, -1wkt)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0.42649999999999999</c:v>
                </c:pt>
                <c:pt idx="1">
                  <c:v>0.49869999999999998</c:v>
                </c:pt>
                <c:pt idx="2">
                  <c:v>0.49869999999999998</c:v>
                </c:pt>
                <c:pt idx="3">
                  <c:v>0.49869999999999998</c:v>
                </c:pt>
                <c:pt idx="4">
                  <c:v>0.12820000000000001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A7-42D7-AE94-1CF696EDA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Delta vs Base State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 vs Base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7E-4D68-89A5-D7FB99ED4F6C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7E-4D68-89A5-D7FB99ED4F6C}"/>
              </c:ext>
            </c:extLst>
          </c:dPt>
          <c:dPt>
            <c:idx val="2"/>
            <c:invertIfNegative val="0"/>
            <c:bubble3D val="0"/>
            <c:spPr>
              <a:solidFill>
                <a:srgbClr val="7C5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7E-4D68-89A5-D7FB99ED4F6C}"/>
              </c:ext>
            </c:extLst>
          </c:dPt>
          <c:dPt>
            <c:idx val="3"/>
            <c:invertIfNegative val="0"/>
            <c:bubble3D val="0"/>
            <c:spPr>
              <a:solidFill>
                <a:srgbClr val="E843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7E-4D68-89A5-D7FB99ED4F6C}"/>
              </c:ext>
            </c:extLst>
          </c:dPt>
          <c:cat>
            <c:strRef>
              <c:f>Sheet1!$A$2:$A$5</c:f>
              <c:strCache>
                <c:ptCount val="4"/>
                <c:pt idx="0">
                  <c:v>Aggressive Over</c:v>
                </c:pt>
                <c:pt idx="1">
                  <c:v>Optimal Over</c:v>
                </c:pt>
                <c:pt idx="2">
                  <c:v>Defensive Over</c:v>
                </c:pt>
                <c:pt idx="3">
                  <c:v>Wicket Loss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7.22E-2</c:v>
                </c:pt>
                <c:pt idx="1">
                  <c:v>7.22E-2</c:v>
                </c:pt>
                <c:pt idx="2">
                  <c:v>7.22E-2</c:v>
                </c:pt>
                <c:pt idx="3">
                  <c:v>-0.29830000000000001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7E-4D68-89A5-D7FB99ED4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5"/>
          <c:min val="-0.4"/>
        </c:scaling>
        <c:delete val="0"/>
        <c:axPos val="b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EDF5"/>
                </a:solidFill>
                <a:latin typeface="Arial"/>
              </a:rPr>
              <a:t>SHAP Global Feature Importance (XGBoost, n=800 samples)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required_run_rate</c:v>
                </c:pt>
                <c:pt idx="1">
                  <c:v>overs_remaining</c:v>
                </c:pt>
                <c:pt idx="2">
                  <c:v>wickets_remaining</c:v>
                </c:pt>
                <c:pt idx="3">
                  <c:v>rrr_crr_gap</c:v>
                </c:pt>
                <c:pt idx="4">
                  <c:v>run_rate_pressure</c:v>
                </c:pt>
                <c:pt idx="5">
                  <c:v>current_run_rate</c:v>
                </c:pt>
                <c:pt idx="6">
                  <c:v>pressure_index</c:v>
                </c:pt>
                <c:pt idx="7">
                  <c:v>runs_required</c:v>
                </c:pt>
                <c:pt idx="8">
                  <c:v>resources_remaining</c:v>
                </c:pt>
                <c:pt idx="9">
                  <c:v>runs_last_6</c:v>
                </c:pt>
                <c:pt idx="10">
                  <c:v>wicket_pressure</c:v>
                </c:pt>
                <c:pt idx="11">
                  <c:v>collapse_risk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0.48</c:v>
                </c:pt>
                <c:pt idx="1">
                  <c:v>0.41</c:v>
                </c:pt>
                <c:pt idx="2">
                  <c:v>0.35</c:v>
                </c:pt>
                <c:pt idx="3">
                  <c:v>0.31</c:v>
                </c:pt>
                <c:pt idx="4">
                  <c:v>0.28999999999999998</c:v>
                </c:pt>
                <c:pt idx="5">
                  <c:v>0.27</c:v>
                </c:pt>
                <c:pt idx="6">
                  <c:v>0.22</c:v>
                </c:pt>
                <c:pt idx="7">
                  <c:v>0.19</c:v>
                </c:pt>
                <c:pt idx="8">
                  <c:v>0.17</c:v>
                </c:pt>
                <c:pt idx="9">
                  <c:v>0.14000000000000001</c:v>
                </c:pt>
                <c:pt idx="10">
                  <c:v>0.12</c:v>
                </c:pt>
                <c:pt idx="11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7-4C5F-95FF-F62168E67D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C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09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-1371600"/>
            <a:ext cx="5943600" cy="5943600"/>
          </a:xfrm>
          <a:prstGeom prst="ellipse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548640"/>
            <a:ext cx="4114800" cy="411480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2743200" cy="2743200"/>
          </a:xfrm>
          <a:prstGeom prst="ellipse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347472"/>
            <a:ext cx="3291840" cy="292608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47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RESEARCH PROJECT  ·  IPL ANALYTICS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713232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Counterfactual Strategy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in IPL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Win Probability Modeling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2560320" cy="4572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ML Researchers · Franchise Analysts · Enterprise Technology Leaders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1874520" cy="329184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23160" y="3310128"/>
            <a:ext cx="1874520" cy="329184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33101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0560" y="3310128"/>
            <a:ext cx="1874520" cy="329184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33101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Monitoring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37960" y="3310128"/>
            <a:ext cx="1874520" cy="329184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33101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Simulation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4572000" cy="310896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76732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counterfactual-xi.vercel.app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" y="4663440"/>
            <a:ext cx="1691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1,055 Clean Matches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56232" y="4754880"/>
            <a:ext cx="18288" cy="292608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65960" y="4663440"/>
            <a:ext cx="1691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253,150 Deliveries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39312" y="4754880"/>
            <a:ext cx="18288" cy="292608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0" y="4663440"/>
            <a:ext cx="1691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2007/08–2024 Training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22392" y="4754880"/>
            <a:ext cx="18288" cy="292608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32120" y="4663440"/>
            <a:ext cx="1691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Model Features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05472" y="4754880"/>
            <a:ext cx="18288" cy="292608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0" y="4663440"/>
            <a:ext cx="1691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0.8600 Final AUC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 &amp; Planning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IPL Decisions Need Better Intelligence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1645920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64008" cy="1645920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&amp; analysts make 200+ tactical decisions per match with no real-time quantified probability support.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1645920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64008" cy="1645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(Duckworth-Lewis) are static and rule-based — preventing dynamic 'what-if' counterfactual simulations.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645920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64008" cy="164592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explainable, ball-by-ball win probability model integrating historical data with advanced match-state features.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206240" cy="1645920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64008" cy="1645920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3375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pipeline: data ingestion → feature engineering → stacking model → FastAPI deployment → interactive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the Historical Foundations (2007/08 – 2024)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1417320"/>
          </a:xfrm>
          <a:prstGeom prst="rect">
            <a:avLst/>
          </a:prstGeom>
          <a:solidFill>
            <a:srgbClr val="141C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0116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1,095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231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011680" cy="1417320"/>
          </a:xfrm>
          <a:prstGeom prst="rect">
            <a:avLst/>
          </a:prstGeom>
          <a:solidFill>
            <a:srgbClr val="141C35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170432"/>
            <a:ext cx="20116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1,055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Matches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2231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DLS/SuperOver filter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097280"/>
            <a:ext cx="2011680" cy="1417320"/>
          </a:xfrm>
          <a:prstGeom prst="rect">
            <a:avLst/>
          </a:prstGeom>
          <a:solidFill>
            <a:srgbClr val="141C35"/>
          </a:solidFill>
          <a:ln w="1905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1170432"/>
            <a:ext cx="20116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260,920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26864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Deliveries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6864" y="2231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records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03136" y="1097280"/>
            <a:ext cx="2011680" cy="1417320"/>
          </a:xfrm>
          <a:prstGeom prst="rect">
            <a:avLst/>
          </a:prstGeom>
          <a:solidFill>
            <a:srgbClr val="141C35"/>
          </a:solidFill>
          <a:ln w="1905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03136" y="1170432"/>
            <a:ext cx="20116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253,150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03136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Deliveries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3136" y="2231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innings only</a:t>
            </a:r>
            <a:endParaRPr lang="en-US" sz="8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697480"/>
          <a:ext cx="47548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5212080" y="2697480"/>
            <a:ext cx="3657600" cy="50292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321808" y="2734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Dataset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321808" y="2953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1,095 rows × 20 columns: season, venue, toss decisions, match outcomes.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212080" y="3273552"/>
            <a:ext cx="3657600" cy="50292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321808" y="33101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Dataset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321808" y="3529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260,920 rows × 17 columns: runs, wickets, extras per ball.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212080" y="3849624"/>
            <a:ext cx="3657600" cy="50292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321808" y="38862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21808" y="4105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≤2018 | Val: 2019 | Test: 2021–2024 (Season-aware, no leakage).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212080" y="4425696"/>
            <a:ext cx="3657600" cy="50292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321808" y="44622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Innings Focus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321808" y="4681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exclusively on chasing innings: 122,622 rows after filtering.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Wrangling — Structural Integrity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804672" cy="804672"/>
          </a:xfrm>
          <a:prstGeom prst="ellipse">
            <a:avLst/>
          </a:prstGeom>
          <a:solidFill>
            <a:srgbClr val="E8439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8176" y="1463040"/>
            <a:ext cx="320040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1097280"/>
            <a:ext cx="804672" cy="8046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5740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71216" y="1463040"/>
            <a:ext cx="320040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Overs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0440" y="1097280"/>
            <a:ext cx="804672" cy="804672"/>
          </a:xfrm>
          <a:prstGeom prst="ellipse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34256" y="1463040"/>
            <a:ext cx="320040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DLS Matches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83480" y="1097280"/>
            <a:ext cx="804672" cy="8046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97296" y="1463040"/>
            <a:ext cx="320040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Innings (1&amp;2)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1097280"/>
            <a:ext cx="804672" cy="8046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60336" y="1463040"/>
            <a:ext cx="320040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09560" y="1097280"/>
            <a:ext cx="804672" cy="8046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10972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8952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633472"/>
            <a:ext cx="2011680" cy="640080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633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1095 → 1055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" y="2999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retained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2633472"/>
            <a:ext cx="2011680" cy="640080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68880" y="2633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→ 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468880" y="2999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Innings kept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633472"/>
            <a:ext cx="2011680" cy="640080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2633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253,150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63440" y="2999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deliveries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58000" y="2633472"/>
            <a:ext cx="2011680" cy="640080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0" y="2633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orphans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58000" y="2999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mismatches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401568"/>
            <a:ext cx="4206240" cy="749808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401568"/>
            <a:ext cx="64008" cy="749808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3493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38130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'No Result' matches (5), Super Over matches (14), and DLS-method matches (21). Validated 0 orphan deliveries, 0 duplicates, 0 invalid total runs.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242816"/>
            <a:ext cx="4206240" cy="749808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4242816"/>
            <a:ext cx="64008" cy="7498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334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Cleaning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46542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Re-mapped discontinued team names: Delhi Daredevils→Delhi Capitals, Pune Warriors→defunct, Rising Pune Supergiants→defunct. Dropped umpire, fielder, non-striker columns.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3401568"/>
            <a:ext cx="4206240" cy="749808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09160" y="3401568"/>
            <a:ext cx="64008" cy="749808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3493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Merging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892040" y="38130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matches.csv + deliveries.csv on 'match_id' (inner join). Result: 253,150 × 31 merged. Sorted chronologically by match_id → inning → over → ball.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09160" y="4242816"/>
            <a:ext cx="4206240" cy="74980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9160" y="4242816"/>
            <a:ext cx="64008" cy="7498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4334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892040" y="46542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Season-aware splitting applied early: Train ≤2018 (9 seasons), Val=2019, Test ≥2021. Post-match columns (winner, result_margin) dropped before modeling.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Distributions &amp; Wickets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From 253,150 IPL Deliveries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00584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429000"/>
            <a:ext cx="4114800" cy="685800"/>
          </a:xfrm>
          <a:prstGeom prst="rect">
            <a:avLst/>
          </a:prstGeom>
          <a:solidFill>
            <a:srgbClr val="0F1629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74320" y="3429000"/>
            <a:ext cx="54864" cy="685800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38912" y="34930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0 runs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8912" y="3758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 of deliveries yield 0 runs — dot balls dominate IPL, creating pressure index.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4233672"/>
            <a:ext cx="4114800" cy="685800"/>
          </a:xfrm>
          <a:prstGeom prst="rect">
            <a:avLst/>
          </a:prstGeom>
          <a:solidFill>
            <a:srgbClr val="0F1629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74320" y="4233672"/>
            <a:ext cx="54864" cy="6858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38912" y="42976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7 runs/ball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38912" y="4562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notebook: max total_runs = 7 (wide + 6). Mean = 1.33, Std = 1.63.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54880" y="3429000"/>
            <a:ext cx="4114800" cy="685800"/>
          </a:xfrm>
          <a:prstGeom prst="rect">
            <a:avLst/>
          </a:prstGeom>
          <a:solidFill>
            <a:srgbClr val="0F1629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54880" y="3429000"/>
            <a:ext cx="54864" cy="685800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919472" y="34930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12,950 wickets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19472" y="3758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260,920 deliveries: wicket rate = 4.96%. Max 10 wickets in one innings confirmed.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54880" y="4233672"/>
            <a:ext cx="4114800" cy="685800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754880" y="4233672"/>
            <a:ext cx="54864" cy="6858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19472" y="42976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Death-over spike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19472" y="4562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 18-20 see the most wickets — key input for collapse_risk feature.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Run Rate &amp; Win Probability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Scoring Patterns and Chase Dynamics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00584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520440"/>
            <a:ext cx="8595360" cy="292608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65760" y="3520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Phase-wise Scoring Summary (from notebook EDA)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3886200"/>
            <a:ext cx="2743200" cy="1051560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74320" y="3886200"/>
            <a:ext cx="2743200" cy="5486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84048" y="3977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(1-6)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84048" y="4315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RPO: 7.87  |  Avg Wickets: 1.8/inning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3886200"/>
            <a:ext cx="2743200" cy="1051560"/>
          </a:xfrm>
          <a:prstGeom prst="rect">
            <a:avLst/>
          </a:prstGeom>
          <a:solidFill>
            <a:srgbClr val="0F1629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200400" y="388620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310128" y="3977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Overs (7-15)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10128" y="4315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RPO: 7.22  |  Avg Wickets: 3.4/inning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3886200"/>
            <a:ext cx="2743200" cy="1051560"/>
          </a:xfrm>
          <a:prstGeom prst="rect">
            <a:avLst/>
          </a:prstGeom>
          <a:solidFill>
            <a:srgbClr val="0F1629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26480" y="3886200"/>
            <a:ext cx="2743200" cy="54864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236208" y="3977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(16-20)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236208" y="4315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RPO: 9.56  |  Avg Wickets: 2.8/inning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Selection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Strategic Context Variables from Notebook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57800" y="1005840"/>
            <a:ext cx="3657600" cy="877824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257800" y="1005840"/>
            <a:ext cx="54864" cy="87782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22392" y="1078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 (5)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22392" y="1371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overs_remaining  ·  wickets_remaining  ·  target_score  ·  required_run_rate  ·  current_run_rate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257800" y="2011680"/>
            <a:ext cx="3657600" cy="877824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257800" y="2011680"/>
            <a:ext cx="54864" cy="87782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22392" y="2084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(5)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22392" y="23774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runs_last_6  ·  runs_last_12  ·  momentum_index  ·  momentum_acceleration  ·  boundaries_last_6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257800" y="3017520"/>
            <a:ext cx="3657600" cy="877824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257800" y="3017520"/>
            <a:ext cx="54864" cy="877824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22392" y="3090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Risk (6)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22392" y="33832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rrr_crr_gap  ·  wicket_pressure  ·  pressure_index  ·  collapse_risk  ·  collapse_indicator  ·  win_pressure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257800" y="4023360"/>
            <a:ext cx="3657600" cy="877824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57800" y="4023360"/>
            <a:ext cx="54864" cy="877824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22392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Context (5)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22392" y="4389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match_phase  ·  is_chasing  ·  resources_remaining  ·  match_progress  ·  batting_team_strength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257800" y="5029200"/>
            <a:ext cx="36576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predictor: wickets_remaining (r=0.237) — more than current run rate, highlighting the importance of batting resources in chase models.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 &amp;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Ensemble → Deep Learning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530352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047488" cy="530352"/>
          </a:xfrm>
          <a:prstGeom prst="rect">
            <a:avLst/>
          </a:prstGeom>
          <a:solidFill>
            <a:srgbClr val="00C8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64,024 rows  (Seasons 2009–2018)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1808" y="1051560"/>
            <a:ext cx="530352" cy="530352"/>
          </a:xfrm>
          <a:prstGeom prst="rect">
            <a:avLst/>
          </a:prstGeom>
          <a:solidFill>
            <a:srgbClr val="F5A62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21808" y="1051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852160" y="1051560"/>
            <a:ext cx="3017520" cy="530352"/>
          </a:xfrm>
          <a:prstGeom prst="rect">
            <a:avLst/>
          </a:prstGeom>
          <a:solidFill>
            <a:srgbClr val="E843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10515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32,146 rows  (2021–2024)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4206240" cy="1389888"/>
          </a:xfrm>
          <a:prstGeom prst="rect">
            <a:avLst/>
          </a:prstGeom>
          <a:solidFill>
            <a:srgbClr val="141C35"/>
          </a:solidFill>
          <a:ln w="12700">
            <a:solidFill>
              <a:srgbClr val="7A8BA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1188720" cy="274320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" y="173736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121408"/>
            <a:ext cx="91440" cy="201168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0848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468880"/>
            <a:ext cx="91440" cy="201168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4323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10128"/>
            <a:ext cx="4206240" cy="1389888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310128"/>
            <a:ext cx="11887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" y="33101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ML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3694176"/>
            <a:ext cx="91440" cy="2011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(180 trees, depth=12)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91440" cy="2011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0050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(LR=0.05, depth=3)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737360"/>
            <a:ext cx="4206240" cy="138988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1737360"/>
            <a:ext cx="1188720" cy="27432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64024" y="173736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18888" y="2121408"/>
            <a:ext cx="91440" cy="20116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20848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(hist, n=180, depth=4)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18888" y="2468880"/>
            <a:ext cx="91440" cy="20116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24323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Stacking: RF+GB+XGB → Logistic Meta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310128"/>
            <a:ext cx="4206240" cy="1389888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3310128"/>
            <a:ext cx="1188720" cy="274320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64024" y="33101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18888" y="3694176"/>
            <a:ext cx="91440" cy="201168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3657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36→256→128→64→1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18888" y="4041648"/>
            <a:ext cx="91440" cy="201168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83480" y="40050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BatchNorm, Dropout, TF 2.19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Input(36) → Dense(256, ReLU) + BN + Dropout(0.3) → Dense(128) + BN + Dropout(0.25) → Dense(64) → Sigmoid | Params: 52,481 | GPU: 2× Tesla T4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vs Validation 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Bootstrap-Mean Accuracy (8 Epochs, 0.8 Frac)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05840"/>
            <a:ext cx="2926080" cy="347472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61888" y="1005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42048" y="1005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44968" y="1005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47888" y="1005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1353312"/>
            <a:ext cx="2926080" cy="347472"/>
          </a:xfrm>
          <a:prstGeom prst="rect">
            <a:avLst/>
          </a:prstGeom>
          <a:solidFill>
            <a:srgbClr val="14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61888" y="135331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242048" y="1353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0.7924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44968" y="1353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0.7206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47888" y="1353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0.0718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43600" y="1700784"/>
            <a:ext cx="2926080" cy="347472"/>
          </a:xfrm>
          <a:prstGeom prst="rect">
            <a:avLst/>
          </a:prstGeom>
          <a:solidFill>
            <a:srgbClr val="0F1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61888" y="170078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242048" y="17007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744968" y="17007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0.7165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47888" y="17007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0.1417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0" y="2048256"/>
            <a:ext cx="2926080" cy="347472"/>
          </a:xfrm>
          <a:prstGeom prst="rect">
            <a:avLst/>
          </a:prstGeom>
          <a:solidFill>
            <a:srgbClr val="14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61888" y="204825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242048" y="2048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0.8186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744968" y="2048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47888" y="2048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0.0540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43600" y="2395728"/>
            <a:ext cx="2926080" cy="347472"/>
          </a:xfrm>
          <a:prstGeom prst="rect">
            <a:avLst/>
          </a:prstGeom>
          <a:solidFill>
            <a:srgbClr val="0F1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61888" y="239572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242048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44968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0.7594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247888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0.0330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43600" y="2743200"/>
            <a:ext cx="2926080" cy="347472"/>
          </a:xfrm>
          <a:prstGeom prst="rect">
            <a:avLst/>
          </a:prstGeom>
          <a:solidFill>
            <a:srgbClr val="14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961888" y="27432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242048" y="27432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0.8188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744968" y="27432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0.7668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247888" y="27432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0.0520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943600" y="3090672"/>
            <a:ext cx="2926080" cy="347472"/>
          </a:xfrm>
          <a:prstGeom prst="rect">
            <a:avLst/>
          </a:prstGeom>
          <a:solidFill>
            <a:srgbClr val="0F1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961888" y="309067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(Final)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242048" y="30906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0.8329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744968" y="30906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0.7737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247888" y="30906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0.0592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74320" y="4425696"/>
            <a:ext cx="8595360" cy="320040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65760" y="442569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has the largest gap (0.1417) — severe overfitting. Stacking achieves the best test accuracy (0.7737) with controlled gap (0.0592).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— Full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 on Test Set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8595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224528"/>
            <a:ext cx="2011680" cy="731520"/>
          </a:xfrm>
          <a:prstGeom prst="rect">
            <a:avLst/>
          </a:prstGeom>
          <a:solidFill>
            <a:srgbClr val="141C35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78.22%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432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68880" y="4224528"/>
            <a:ext cx="2011680" cy="731520"/>
          </a:xfrm>
          <a:prstGeom prst="rect">
            <a:avLst/>
          </a:prstGeom>
          <a:solidFill>
            <a:srgbClr val="141C35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46888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Precision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68880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83.42%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46888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63440" y="4224528"/>
            <a:ext cx="2011680" cy="731520"/>
          </a:xfrm>
          <a:prstGeom prst="rect">
            <a:avLst/>
          </a:prstGeom>
          <a:solidFill>
            <a:srgbClr val="141C35"/>
          </a:solidFill>
          <a:ln w="1905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6344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63440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76.87%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6344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858000" y="4224528"/>
            <a:ext cx="2011680" cy="731520"/>
          </a:xfrm>
          <a:prstGeom prst="rect">
            <a:avLst/>
          </a:prstGeom>
          <a:solidFill>
            <a:srgbClr val="141C35"/>
          </a:solidFill>
          <a:ln w="1905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5800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Acc+F1 leader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 &amp; Calibration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for Real-World Deployment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005840"/>
            <a:ext cx="1920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120640" y="1051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(Validation)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120640" y="1280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0.1474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0" y="1664208"/>
            <a:ext cx="1920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20640" y="17099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AUC (Test)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2064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0.8600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0" y="2322576"/>
            <a:ext cx="1920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20640" y="2368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 (F1)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120640" y="2596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040880" y="1005840"/>
            <a:ext cx="1920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32320" y="1051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 (Acc)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132320" y="1280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040880" y="1664208"/>
            <a:ext cx="1920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0" y="17099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 @ threshold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1323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0.7978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0" y="2322576"/>
            <a:ext cx="1920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32320" y="23682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132320" y="2596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0.7357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74320" y="3886200"/>
            <a:ext cx="4206240" cy="548640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74320" y="3886200"/>
            <a:ext cx="64008" cy="548640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(CV)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4297680"/>
            <a:ext cx="3931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on tree depths, XGBoost learning rates, MLP hidden layer sizes.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4544568"/>
            <a:ext cx="4206240" cy="548640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4320" y="4544568"/>
            <a:ext cx="64008" cy="5486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7200" y="4636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0.34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4956048"/>
            <a:ext cx="3931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validation set for F1-score maximization. Default 0.5 causes recall loss at unbalanced states.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09160" y="3886200"/>
            <a:ext cx="4206240" cy="548640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709160" y="3886200"/>
            <a:ext cx="64008" cy="54864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9204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892040" y="4297680"/>
            <a:ext cx="3931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drops from ~0.22 to 0.1474 after calibration. Probabilities now represent true likelihoods.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709160" y="4544568"/>
            <a:ext cx="4206240" cy="548640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709160" y="4544568"/>
            <a:ext cx="64008" cy="548640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92040" y="4636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No-Leak Pipeline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4892040" y="4956048"/>
            <a:ext cx="3931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best: n=180, depth=4, LR=0.05, subsample=0.9, lambda=10. All on val set only.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One-Shot Test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No-Leak — Test Set Never Touched During Tuning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93392" cy="1371600"/>
          </a:xfrm>
          <a:prstGeom prst="rect">
            <a:avLst/>
          </a:prstGeom>
          <a:solidFill>
            <a:srgbClr val="141C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247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1993392" cy="1371600"/>
          </a:xfrm>
          <a:prstGeom prst="rect">
            <a:avLst/>
          </a:prstGeom>
          <a:solidFill>
            <a:srgbClr val="141C35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1247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77.81%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50592" y="1874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1993392" cy="1371600"/>
          </a:xfrm>
          <a:prstGeom prst="rect">
            <a:avLst/>
          </a:prstGeom>
          <a:solidFill>
            <a:srgbClr val="141C35"/>
          </a:solidFill>
          <a:ln w="1905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11247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77.94%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26864" y="1874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051560"/>
            <a:ext cx="1993392" cy="1371600"/>
          </a:xfrm>
          <a:prstGeom prst="rect">
            <a:avLst/>
          </a:prstGeom>
          <a:solidFill>
            <a:srgbClr val="141C35"/>
          </a:solidFill>
          <a:ln w="1905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03136" y="11247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0.1556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03136" y="1874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4114800" cy="2286000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Stacking (Acc-threshold=0.40)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737360" cy="868680"/>
          </a:xfrm>
          <a:prstGeom prst="rect">
            <a:avLst/>
          </a:prstGeom>
          <a:solidFill>
            <a:srgbClr val="0F1629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12,412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– Batting team lost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77440" y="3017520"/>
            <a:ext cx="1737360" cy="868680"/>
          </a:xfrm>
          <a:prstGeom prst="rect">
            <a:avLst/>
          </a:prstGeom>
          <a:solidFill>
            <a:srgbClr val="0F1629"/>
          </a:solidFill>
          <a:ln w="1905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77440" y="3063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3,866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377440" y="3456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– Predicted win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lost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1737360" cy="868680"/>
          </a:xfrm>
          <a:prstGeom prst="rect">
            <a:avLst/>
          </a:prstGeom>
          <a:solidFill>
            <a:srgbClr val="0F1629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3,267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4416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– Predicted loss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377440" y="3977640"/>
            <a:ext cx="1737360" cy="868680"/>
          </a:xfrm>
          <a:prstGeom prst="rect">
            <a:avLst/>
          </a:prstGeom>
          <a:solidFill>
            <a:srgbClr val="0F1629"/>
          </a:solidFill>
          <a:ln w="1905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77440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12,601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377440" y="4416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– Batting team won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</a:t>
            </a:r>
            <a:endParaRPr lang="en-US" sz="7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4663440" y="260604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Shape 30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deployed model: Stacking ML (AUC=0.86, F1=0.7607). Hybrid adds F1 but same AUC. Stacking selected for calibration stability and interpretability.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Counterfactual Strategy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Scenarios — Quantifying Tactical Impact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394960" y="1005840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886200"/>
            <a:ext cx="4206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7A8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74320" y="3886200"/>
            <a:ext cx="54864" cy="566928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38912" y="394106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Win Probability: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43200" y="39227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A8B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42.65%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8912" y="41970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test match state: mid-chase, pressure building.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4544568"/>
            <a:ext cx="4206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74320" y="4544568"/>
            <a:ext cx="54864" cy="56692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38912" y="459943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10-12 runs/over: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43200" y="45811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+7.22%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38912" y="48554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or optimal over improves win probability by +7.2pp.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09160" y="3886200"/>
            <a:ext cx="4206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09160" y="3886200"/>
            <a:ext cx="54864" cy="566928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73752" y="394106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over (4 runs):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178040" y="39227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+7.22%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73752" y="41970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4 runs maintains probability — wicket conservation matters more.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09160" y="4544568"/>
            <a:ext cx="4206240" cy="566928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709160" y="4544568"/>
            <a:ext cx="54864" cy="566928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873752" y="459943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 loss impact: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178040" y="45811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−29.83%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4873752" y="48554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wicket in pressure situation collapses probability by nearly 30pp.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Explainability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Model Predictions Through Feature Attribution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005840"/>
            <a:ext cx="3383280" cy="804672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0" y="1005840"/>
            <a:ext cx="54864" cy="804672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96128" y="1069848"/>
            <a:ext cx="292608" cy="292608"/>
          </a:xfrm>
          <a:prstGeom prst="ellipse">
            <a:avLst/>
          </a:prstGeom>
          <a:solidFill>
            <a:srgbClr val="E8439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96128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1069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required_run_rate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96128" y="1371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SHAP: model learned chase dynamics. RRR &gt; 10 strongly decreases win probability.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1920240"/>
            <a:ext cx="3383280" cy="804672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0" y="1920240"/>
            <a:ext cx="54864" cy="80467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596128" y="1984248"/>
            <a:ext cx="292608" cy="292608"/>
          </a:xfrm>
          <a:prstGeom prst="ellipse">
            <a:avLst/>
          </a:prstGeom>
          <a:solidFill>
            <a:srgbClr val="F5A62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96128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19842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overs_remaining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96128" y="2286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late-game overs with high RRR create exponential pressure.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2834640"/>
            <a:ext cx="3383280" cy="804672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0" y="2834640"/>
            <a:ext cx="54864" cy="80467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596128" y="2898648"/>
            <a:ext cx="292608" cy="292608"/>
          </a:xfrm>
          <a:prstGeom prst="ellipse">
            <a:avLst/>
          </a:prstGeom>
          <a:solidFill>
            <a:srgbClr val="00C89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96128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2898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wickets_remaining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96128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impactful than raw runs scored — batting resources drive chasing success.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0" y="3749040"/>
            <a:ext cx="3383280" cy="804672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0" y="3749040"/>
            <a:ext cx="54864" cy="804672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96128" y="3813048"/>
            <a:ext cx="292608" cy="292608"/>
          </a:xfrm>
          <a:prstGeom prst="ellipse">
            <a:avLst/>
          </a:prstGeom>
          <a:solidFill>
            <a:srgbClr val="7C5C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596128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989320" y="3813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rrr_crr_gap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596128" y="4114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feature: gap between required and current run rate captures pressure better than either alone.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interpretability insight: The model correctly prioritizes RRR and overs_remaining over static runs — confirming it learned dynamic chase pressure, not just totals.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Deployment &amp;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16 OpenAPI Endpoints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828800" cy="822960"/>
          </a:xfrm>
          <a:prstGeom prst="rect">
            <a:avLst/>
          </a:prstGeom>
          <a:solidFill>
            <a:srgbClr val="141C35"/>
          </a:solidFill>
          <a:ln w="1905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435608"/>
            <a:ext cx="256032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67712" y="13533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828800" cy="822960"/>
          </a:xfrm>
          <a:prstGeom prst="rect">
            <a:avLst/>
          </a:prstGeom>
          <a:solidFill>
            <a:srgbClr val="141C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051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35608"/>
            <a:ext cx="256032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70832" y="13533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1828800" cy="822960"/>
          </a:xfrm>
          <a:prstGeom prst="rect">
            <a:avLst/>
          </a:prstGeom>
          <a:solidFill>
            <a:srgbClr val="141C35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051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435608"/>
            <a:ext cx="256032" cy="54864"/>
          </a:xfrm>
          <a:prstGeom prst="rect">
            <a:avLst/>
          </a:prstGeom>
          <a:solidFill>
            <a:srgbClr val="7A8B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13533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051560"/>
            <a:ext cx="1828800" cy="822960"/>
          </a:xfrm>
          <a:prstGeom prst="rect">
            <a:avLst/>
          </a:prstGeom>
          <a:solidFill>
            <a:srgbClr val="141C35"/>
          </a:solidFill>
          <a:ln w="1905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1051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XI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011680"/>
            <a:ext cx="4206240" cy="621792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011680"/>
            <a:ext cx="2011680" cy="292608"/>
          </a:xfrm>
          <a:prstGeom prst="rect">
            <a:avLst/>
          </a:prstGeom>
          <a:solidFill>
            <a:srgbClr val="00C89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011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/api/predict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234086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win probability prediction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724912"/>
            <a:ext cx="4206240" cy="621792"/>
          </a:xfrm>
          <a:prstGeom prst="rect">
            <a:avLst/>
          </a:prstGeom>
          <a:solidFill>
            <a:srgbClr val="0F1629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724912"/>
            <a:ext cx="2011680" cy="292608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7249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/api/counterfactual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30540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strategic 'what-if' simulations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38144"/>
            <a:ext cx="4206240" cy="621792"/>
          </a:xfrm>
          <a:prstGeom prst="rect">
            <a:avLst/>
          </a:prstGeom>
          <a:solidFill>
            <a:srgbClr val="0F1629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438144"/>
            <a:ext cx="2011680" cy="292608"/>
          </a:xfrm>
          <a:prstGeom prst="rect">
            <a:avLst/>
          </a:prstGeom>
          <a:solidFill>
            <a:srgbClr val="7C5C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4381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/api/shap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37673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local SHAP importance values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011680"/>
            <a:ext cx="4206240" cy="621792"/>
          </a:xfrm>
          <a:prstGeom prst="rect">
            <a:avLst/>
          </a:prstGeom>
          <a:solidFill>
            <a:srgbClr val="0F1629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011680"/>
            <a:ext cx="2011680" cy="292608"/>
          </a:xfrm>
          <a:prstGeom prst="rect">
            <a:avLst/>
          </a:prstGeom>
          <a:solidFill>
            <a:srgbClr val="E843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2011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/api/trigger_retrain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234086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retraining pipeline trigger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724912"/>
            <a:ext cx="4206240" cy="621792"/>
          </a:xfrm>
          <a:prstGeom prst="rect">
            <a:avLst/>
          </a:prstGeom>
          <a:solidFill>
            <a:srgbClr val="0F1629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2724912"/>
            <a:ext cx="2011680" cy="292608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27249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/api/monitoring/status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18888" y="30540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PSI, Z-shift, rolling AUC status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438144"/>
            <a:ext cx="4206240" cy="621792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3438144"/>
            <a:ext cx="2011680" cy="292608"/>
          </a:xfrm>
          <a:prstGeom prst="rect">
            <a:avLst/>
          </a:prstGeom>
          <a:solidFill>
            <a:srgbClr val="00C89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34381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/api/franchise/radar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18888" y="37673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dominance radar chart data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&amp; Scalable  ·  Single-Page Application (SPA) Frontend  ·  OpenAPI Docs Auto-generated  ·  Stateless Design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counterfactual-xi.vercel.app  —  Dashboard  ·  Live Prediction  ·  What-If Lab  ·  Timeline  ·  Explainability  ·  MLOps  ·  Franchise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 Governance &amp; Monitoring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Drift Detection &amp; Retraining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691640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20624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88920" y="1143000"/>
            <a:ext cx="1554480" cy="292608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8920" y="1143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per feature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188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Drift Monitoring (PSI + Z-Shifts)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tracks Population Stability Index (PSI) and Z-Shifts on live inbound data. Flags features with distribution change.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06240" cy="1691640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06240" cy="64008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88920" y="3063240"/>
            <a:ext cx="1554480" cy="292608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88920" y="3063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&lt; 0.72 → Retrain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Performance Flags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35204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rolling AUC tracking. Triggers 'retrain_required' status when AUC drops below threshold of 0.72.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206240" cy="1691640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4206240" cy="64008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23760" y="1143000"/>
            <a:ext cx="1554480" cy="292608"/>
          </a:xfrm>
          <a:prstGeom prst="rect">
            <a:avLst/>
          </a:prstGeom>
          <a:solidFill>
            <a:srgbClr val="7C5CFF">
              <a:alpha val="30000"/>
            </a:srgbClr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0" y="1143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Audit Trail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Audit Logging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check &amp; maintenance action saved to artifacts/monitoring JSON logs. Full traceability.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206240" cy="1691640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206240" cy="64008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23760" y="3063240"/>
            <a:ext cx="1554480" cy="292608"/>
          </a:xfrm>
          <a:prstGeom prst="rect">
            <a:avLst/>
          </a:prstGeom>
          <a:solidFill>
            <a:srgbClr val="E84393">
              <a:alpha val="30000"/>
            </a:srgbClr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3063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/api/trigger_retrain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1089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Retraining Pipeline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35204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'/api/trigger_retrain' pulls fresh data, preprocesses, and queues new training job automatically.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" y="4727448"/>
            <a:ext cx="960120" cy="256032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727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54480" y="4727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83080" y="4727448"/>
            <a:ext cx="960120" cy="256032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783080" y="4727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Check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0" y="4727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71800" y="4727448"/>
            <a:ext cx="960120" cy="256032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71800" y="4727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Monitor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31920" y="4727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60520" y="4727448"/>
            <a:ext cx="960120" cy="256032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60520" y="4727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Flag? Retrain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0640" y="47274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F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49240" y="4727448"/>
            <a:ext cx="960120" cy="256032"/>
          </a:xfrm>
          <a:prstGeom prst="rect">
            <a:avLst/>
          </a:prstGeom>
          <a:solidFill>
            <a:srgbClr val="0F1629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49240" y="4727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Features — IPL XI Command Center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counterfactual-xi.vercel.app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697480" cy="157276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697480" cy="5486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57200" cy="457200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Dashboard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connectivity, dataset stats (matches, deliveries), model version v1.1.0, mode: ml_only, threshold: 0.34.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27248" y="1051560"/>
            <a:ext cx="2697480" cy="1572768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27248" y="105156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64408" y="1207008"/>
            <a:ext cx="457200" cy="4572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Match Intelligence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1737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win probability gauge. Inputs: overs, wickets, runs, target, runs_last_6. Returns calibrated probability.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2697480" cy="1572768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051560"/>
            <a:ext cx="2697480" cy="54864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1207008"/>
            <a:ext cx="457200" cy="457200"/>
          </a:xfrm>
          <a:prstGeom prst="ellipse">
            <a:avLst/>
          </a:prstGeom>
          <a:solidFill>
            <a:srgbClr val="7C5CFF">
              <a:alpha val="25000"/>
            </a:srgbClr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Lab (What-If)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1737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builder: adjust Runs Δ, Balls Δ, Wickets Δ. Quantifies outcome shift from tactical decisions.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788920"/>
            <a:ext cx="2697480" cy="1572768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2788920"/>
            <a:ext cx="2697480" cy="54864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2944368"/>
            <a:ext cx="457200" cy="457200"/>
          </a:xfrm>
          <a:prstGeom prst="ellipse">
            <a:avLst/>
          </a:prstGeom>
          <a:solidFill>
            <a:srgbClr val="E84393">
              <a:alpha val="25000"/>
            </a:srgbClr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Timeline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win probability + pressure_index overlay across all 120 deliveries. Reveals momentum shifts.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27248" y="2788920"/>
            <a:ext cx="2697480" cy="1572768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27248" y="2788920"/>
            <a:ext cx="2697480" cy="5486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64408" y="2944368"/>
            <a:ext cx="457200" cy="457200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6440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1304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64408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 bar charts. Confirms RRR &gt; overs_remaining &gt; wickets_remaining as top model drivers.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2788920"/>
            <a:ext cx="2697480" cy="1572768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278892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2200" y="2944368"/>
            <a:ext cx="457200" cy="4572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2084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Intelligence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dominance radar charts (Powerplay vs Death overs). Teams: CSK, MI, RCB + more. Auction AI insights.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at:  counterfactual-xi.vercel.app  |  7 Pages: Dashboard · Live Prediction · What-If Lab · Timeline · Explainability · MLOps · Franchise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-1097280"/>
            <a:ext cx="6583680" cy="6583680"/>
          </a:xfrm>
          <a:prstGeom prst="ellipse">
            <a:avLst/>
          </a:prstGeom>
          <a:solidFill>
            <a:srgbClr val="141C35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274320"/>
            <a:ext cx="5029200" cy="502920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743200" cy="5486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Win Probability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counterfactual-xi.vercel.app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1463040" cy="594360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 Naresh 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24BCS278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29968" y="3127248"/>
            <a:ext cx="1463040" cy="594360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29968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9968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24BCS315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02736" y="3127248"/>
            <a:ext cx="1463040" cy="594360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02736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UN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02736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24BCS316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1115568" cy="685800"/>
          </a:xfrm>
          <a:prstGeom prst="rect">
            <a:avLst/>
          </a:prstGeom>
          <a:solidFill>
            <a:srgbClr val="141C35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2793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91640" y="3886200"/>
            <a:ext cx="1115568" cy="685800"/>
          </a:xfrm>
          <a:prstGeom prst="rect">
            <a:avLst/>
          </a:prstGeom>
          <a:solidFill>
            <a:srgbClr val="141C3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91640" y="38862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77.81%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42793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926080" y="3886200"/>
            <a:ext cx="1115568" cy="685800"/>
          </a:xfrm>
          <a:prstGeom prst="rect">
            <a:avLst/>
          </a:prstGeom>
          <a:solidFill>
            <a:srgbClr val="141C35"/>
          </a:solidFill>
          <a:ln w="12700">
            <a:solidFill>
              <a:srgbClr val="7C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38862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26080" y="42793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60520" y="3886200"/>
            <a:ext cx="1115568" cy="685800"/>
          </a:xfrm>
          <a:prstGeom prst="rect">
            <a:avLst/>
          </a:prstGeom>
          <a:solidFill>
            <a:srgbClr val="141C35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60520" y="38862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60520" y="42793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160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298448" y="4773168"/>
            <a:ext cx="18288" cy="274320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99032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4773168"/>
            <a:ext cx="18288" cy="274320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60904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22192" y="4773168"/>
            <a:ext cx="18288" cy="274320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22776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84064" y="4773168"/>
            <a:ext cx="18288" cy="274320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8464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45936" y="4773168"/>
            <a:ext cx="18288" cy="274320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07808" y="4773168"/>
            <a:ext cx="18288" cy="274320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08392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2048</Words>
  <Application>Microsoft Office PowerPoint</Application>
  <PresentationFormat>On-screen Show (16:9)</PresentationFormat>
  <Paragraphs>395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Win Probability Platform</dc:title>
  <dc:subject>PptxGenJS Presentation</dc:subject>
  <dc:creator>PptxGenJS</dc:creator>
  <cp:lastModifiedBy>Sree Naresh A 24BCS278</cp:lastModifiedBy>
  <cp:revision>2</cp:revision>
  <dcterms:created xsi:type="dcterms:W3CDTF">2026-05-02T03:16:29Z</dcterms:created>
  <dcterms:modified xsi:type="dcterms:W3CDTF">2026-05-02T05:15:28Z</dcterms:modified>
</cp:coreProperties>
</file>